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b62b453d30b4db8" Type="http://schemas.openxmlformats.org/package/2006/relationships/metadata/core-properties" Target="docProps/core.xml"/><Relationship Id="Rd03b8315195a47b6" Type="http://schemas.openxmlformats.org/officeDocument/2006/relationships/extended-properties" Target="docProps/app.xml"/><Relationship Id="Rfa2c4f0fbe1b44e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b332de318f4290"/>
  </p:sldMasterIdLst>
  <p:notesMasterIdLst>
    <p:notesMasterId xmlns:r="http://schemas.openxmlformats.org/officeDocument/2006/relationships" r:id="Ref616f348e304794"/>
  </p:notesMasterIdLst>
  <p:sldIdLst>
    <p:sldId xmlns:r="http://schemas.openxmlformats.org/officeDocument/2006/relationships" id="256" r:id="R3dd87e5efca249a0"/>
    <p:sldId xmlns:r="http://schemas.openxmlformats.org/officeDocument/2006/relationships" id="257" r:id="Re615d51a5bd14f91"/>
    <p:sldId xmlns:ns0="http://schemas.openxmlformats.org/officeDocument/2006/relationships" id="270" ns0:id="rId20"/>
    <p:sldId xmlns:r="http://schemas.openxmlformats.org/officeDocument/2006/relationships" id="258" r:id="R6ce9558fe8dc4e07"/>
    <p:sldId xmlns:r="http://schemas.openxmlformats.org/officeDocument/2006/relationships" id="259" r:id="Rd102dc22299d4d8d"/>
    <p:sldId xmlns:r="http://schemas.openxmlformats.org/officeDocument/2006/relationships" id="260" r:id="Rf4980fc132d043f9"/>
    <p:sldId xmlns:r="http://schemas.openxmlformats.org/officeDocument/2006/relationships" id="261" r:id="Rd603c13479684208"/>
    <p:sldId xmlns:r="http://schemas.openxmlformats.org/officeDocument/2006/relationships" id="262" r:id="Rcfeef94a3bfa4da4"/>
    <p:sldId xmlns:r="http://schemas.openxmlformats.org/officeDocument/2006/relationships" id="263" r:id="Rdd5b7e25da464b25"/>
    <p:sldId xmlns:r="http://schemas.openxmlformats.org/officeDocument/2006/relationships" id="264" r:id="Rce0218bf9d664f47"/>
    <p:sldId xmlns:r="http://schemas.openxmlformats.org/officeDocument/2006/relationships" id="265" r:id="R9623aff788ed4445"/>
    <p:sldId xmlns:r="http://schemas.openxmlformats.org/officeDocument/2006/relationships" id="266" r:id="R79a0a2947f554a65"/>
    <p:sldId xmlns:r="http://schemas.openxmlformats.org/officeDocument/2006/relationships" id="267" r:id="Rc046257c6e1e4431"/>
    <p:sldId xmlns:r="http://schemas.openxmlformats.org/officeDocument/2006/relationships" id="268" r:id="Rf8b51175e86a46ee"/>
    <p:sldId xmlns:r="http://schemas.openxmlformats.org/officeDocument/2006/relationships" id="269" r:id="Ree58ed4349e448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d5b472870344749" Type="http://schemas.openxmlformats.org/officeDocument/2006/relationships/tableStyles" Target="tableStyles.xml"/><Relationship Id="R3d21f76a415648ae" Type="http://schemas.openxmlformats.org/officeDocument/2006/relationships/theme" Target="theme/theme1.xml"/><Relationship Id="R3dd87e5efca249a0" Type="http://schemas.openxmlformats.org/officeDocument/2006/relationships/slide" Target="slides/slide1.xml"/><Relationship Id="R6ce9558fe8dc4e07" Type="http://schemas.openxmlformats.org/officeDocument/2006/relationships/slide" Target="slides/slide3.xml"/><Relationship Id="R79a0a2947f554a65" Type="http://schemas.openxmlformats.org/officeDocument/2006/relationships/slide" Target="slides/slide11.xml"/><Relationship Id="R9623aff788ed4445" Type="http://schemas.openxmlformats.org/officeDocument/2006/relationships/slide" Target="slides/slide10.xml"/><Relationship Id="Rc046257c6e1e4431" Type="http://schemas.openxmlformats.org/officeDocument/2006/relationships/slide" Target="slides/slide12.xml"/><Relationship Id="Rce0218bf9d664f47" Type="http://schemas.openxmlformats.org/officeDocument/2006/relationships/slide" Target="slides/slide9.xml"/><Relationship Id="Rcfeef94a3bfa4da4" Type="http://schemas.openxmlformats.org/officeDocument/2006/relationships/slide" Target="slides/slide7.xml"/><Relationship Id="Rd102dc22299d4d8d" Type="http://schemas.openxmlformats.org/officeDocument/2006/relationships/slide" Target="slides/slide4.xml"/><Relationship Id="Rd603c13479684208" Type="http://schemas.openxmlformats.org/officeDocument/2006/relationships/slide" Target="slides/slide6.xml"/><Relationship Id="Rdd5b7e25da464b25" Type="http://schemas.openxmlformats.org/officeDocument/2006/relationships/slide" Target="slides/slide8.xml"/><Relationship Id="Re615d51a5bd14f91" Type="http://schemas.openxmlformats.org/officeDocument/2006/relationships/slide" Target="slides/slide2.xml"/><Relationship Id="Ree58ed4349e44821" Type="http://schemas.openxmlformats.org/officeDocument/2006/relationships/slide" Target="slides/slide14.xml"/><Relationship Id="Ref616f348e304794" Type="http://schemas.openxmlformats.org/officeDocument/2006/relationships/notesMaster" Target="notesMasters/notesMaster1.xml"/><Relationship Id="Rf4980fc132d043f9" Type="http://schemas.openxmlformats.org/officeDocument/2006/relationships/slide" Target="slides/slide5.xml"/><Relationship Id="Rf5b332de318f4290" Type="http://schemas.openxmlformats.org/officeDocument/2006/relationships/slideMaster" Target="slideMasters/slideMaster1.xml"/><Relationship Id="Rf62631a1a6444238" Type="http://schemas.openxmlformats.org/officeDocument/2006/relationships/presProps" Target="presProps.xml"/><Relationship Id="Rf8b51175e86a46ee" Type="http://schemas.openxmlformats.org/officeDocument/2006/relationships/slide" Target="slides/slide13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5d5c2a425e7640f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0475f41506a4a9a" Type="http://schemas.openxmlformats.org/officeDocument/2006/relationships/notesMaster" Target="../notesMasters/notesMaster1.xml"/><Relationship Id="Racfea819090748a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a85c038b2d64806" Type="http://schemas.openxmlformats.org/officeDocument/2006/relationships/slide" Target="../slides/slide2.xml"/><Relationship Id="Rdfbb015f877248e4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9b748af5ac44469" Type="http://schemas.openxmlformats.org/officeDocument/2006/relationships/notesMaster" Target="../notesMasters/notesMaster1.xml"/><Relationship Id="R7ca2aff8c227473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b9c109de22648b2" Type="http://schemas.openxmlformats.org/officeDocument/2006/relationships/notesMaster" Target="../notesMasters/notesMaster1.xml"/><Relationship Id="Rb9cf8f01f13443b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665da89864d4da9" Type="http://schemas.openxmlformats.org/officeDocument/2006/relationships/notesMaster" Target="../notesMasters/notesMaster1.xml"/><Relationship Id="Rdc8263f1d670472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f791c42b5c547da" Type="http://schemas.openxmlformats.org/officeDocument/2006/relationships/slide" Target="../slides/slide6.xml"/><Relationship Id="Ra8194b90b4e841df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db41d774c52c4ae1" Type="http://schemas.openxmlformats.org/officeDocument/2006/relationships/notesMaster" Target="../notesMasters/notesMaster1.xml"/><Relationship Id="Re5628d6d52fe425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9d57061641e4973" Type="http://schemas.openxmlformats.org/officeDocument/2006/relationships/notesMaster" Target="../notesMasters/notesMaster1.xml"/><Relationship Id="Rf73951215e15474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b696dd4e9b0f4471" Type="http://schemas.openxmlformats.org/officeDocument/2006/relationships/notesMaster" Target="../notesMasters/notesMaster1.xml"/><Relationship Id="Rc8e271cd2fd74b4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cb8805233e943bc" Type="http://schemas.openxmlformats.org/officeDocument/2006/relationships/notesMaster" Target="../notesMasters/notesMaster1.xml"/><Relationship Id="R85cc09f75d714b5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8fe1ca130cb24c3d" Type="http://schemas.openxmlformats.org/officeDocument/2006/relationships/notesMaster" Target="../notesMasters/notesMaster1.xml"/><Relationship Id="Rc67cbc4fa2ac4714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f609976e22284f17" Type="http://schemas.openxmlformats.org/officeDocument/2006/relationships/slide" Target="../slides/slide12.xml"/><Relationship Id="Rfaa45b7f890c407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63b400978f74591" Type="http://schemas.openxmlformats.org/officeDocument/2006/relationships/slide" Target="../slides/slide13.xml"/><Relationship Id="R79e57dc0f1f3414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6d4a9855ce6d4906" Type="http://schemas.openxmlformats.org/officeDocument/2006/relationships/notesMaster" Target="../notesMasters/notesMaster1.xml"/><Relationship Id="R7c0d23957b3c4089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Abre con la idea central: no vendemos 'un programa de reservas', vendemos que toda la operación comparta el mismo dato. Pregunta inicial útil: ¿cómo gestionáis hoy una reserva que cambia de hora?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Deja que el club se reconozca en los tres dolores. No critiques su sistema actual: WhatsApp y Excel 'funcionan', pero a costa de memoria y horas. La cadena de la derecha suele generar asentimiento inmediato.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Mensaje clave: una sola operación, dos experiencias. El equipo gana velocidad y control; el jugador gana autonomía con la marca del club. Evita entrar en detalle de pantallas: eso es la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agenda es la fuente de verdad. Destaca lo que no se ve en la miniatura: reagendar, repetir, clases fijas y lista de espera con aviso automático. Es el bloque con más diferencia frente a WhatsApp.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Punto delicado y a la vez fortaleza: el cobro sigue siendo presencial (sin TPV, sin checkout online de reservas), pero con estado por jugador y trazabilidad. Sé transparente aquí: genera confianza.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 a la objeción 'no quiero volver a escribirlo todo'. Plantillas CSV compatibles con Excel en español, vista previa y validación por fila. Si el club usa otro software, el wizard de migración guía el proceso.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comunidad retiene socios: partidas abiertas, competiciones con clasificación automática, ranking ELO, perfiles, chat y valoraciones. Vive donde el jugador ya reserva, no en otra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solo mensaje, tres canales, audiencia segmentada. Contrasta con el grupo de WhatsApp: aquí cada aviso llega una vez y a quien corresponde.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Analítica con datos reales del club: ocupación que descuenta bloqueos, altas con fecha real y zona horaria correcta. Diferenciador frente a paneles decorativos: aquí los números se pueden defender.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proceso de cambio en 4 pasos con criterio de salida verificable. Transmite que no dejamos al club solo con un enlace y suerte.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técnica en lenguaje de negocio: multi-club, roles, trazabilidad, PWA sin instalaciones, comunicaciones y privacidad. No entrar en detalle técnico salvo pregunta expresa.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piloto reduce el riesgo percibido: semana 0, formación, revisión a 24 horas y decisión a 7 días. Sin pagos reales durante el piloto. Es la alternativa a 'firmar a ciegas'.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de honestidad: qué incluye y qué no. Adelántate a las comparativas con otros productos; vender lo que existe evita devoluciones de confianza después.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con acción concreta: una demo con SUS horarios y SUS pistas. Pide los 5 datos de la lista antes de terminar la reunión y agenda la demo en ese momento.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tabla es el resumen comercial de la reunión. Léela por filas y deténte donde el club reaccione. Cierra con la frase inferior: no les cambiamos la caja, les damos control sobre 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3eaa07d6135a4de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6e5154fb2f14f9f" Type="http://schemas.openxmlformats.org/officeDocument/2006/relationships/theme" Target="theme/theme2.xml"/><Relationship Id="Rea055b738ac5412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055b738ac541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c8fcdc4c8a9453d" Type="http://schemas.openxmlformats.org/officeDocument/2006/relationships/notesSlide" Target="../notesSlides/notesSlide1.xml"/><Relationship Id="Re48eecefbe0f47e0" Type="http://schemas.openxmlformats.org/officeDocument/2006/relationships/slideLayout" Target="../slideLayouts/slideLayout1.xml"/><Relationship Id="Rec7c59932d3643eb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827f6196ca114469" Type="http://schemas.openxmlformats.org/officeDocument/2006/relationships/notesSlide" Target="../notesSlides/notesSlide2.xml"/><Relationship Id="Rf01ce29f76954764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9b861f9e24a4b5c" Type="http://schemas.openxmlformats.org/officeDocument/2006/relationships/slideLayout" Target="../slideLayouts/slideLayout1.xml"/><Relationship Id="Rb31e509ca251430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9af98e4c90464e34" Type="http://schemas.openxmlformats.org/officeDocument/2006/relationships/notesSlide" Target="../notesSlides/notesSlide4.xml"/><Relationship Id="Rc38511fb606f4ea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2e123554dca4d44" Type="http://schemas.openxmlformats.org/officeDocument/2006/relationships/notesSlide" Target="../notesSlides/notesSlide5.xml"/><Relationship Id="Radc36de14d324b3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8bf11c369b24826" Type="http://schemas.openxmlformats.org/officeDocument/2006/relationships/notesSlide" Target="../notesSlides/notesSlide6.xml"/><Relationship Id="Rea1f40cd007f47ab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94fe0a64ee94ccb" Type="http://schemas.openxmlformats.org/officeDocument/2006/relationships/slideLayout" Target="../slideLayouts/slideLayout1.xml"/><Relationship Id="Rfa12dd44163f47ff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526ac708ddc4047" Type="http://schemas.openxmlformats.org/officeDocument/2006/relationships/slideLayout" Target="../slideLayouts/slideLayout1.xml"/><Relationship Id="R59431a93a0da493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8a82943a37143e5" Type="http://schemas.openxmlformats.org/officeDocument/2006/relationships/slideLayout" Target="../slideLayouts/slideLayout1.xml"/><Relationship Id="Rd53275d1432645f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30693f3db184ee4" Type="http://schemas.openxmlformats.org/officeDocument/2006/relationships/slideLayout" Target="../slideLayouts/slideLayout1.xml"/><Relationship Id="Re8f5113931ba46c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c460508bd624726" Type="http://schemas.openxmlformats.org/officeDocument/2006/relationships/notesSlide" Target="../notesSlides/notesSlide11.xml"/><Relationship Id="R8dfb54e9ea844928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8ac6b8e1b924b14" Type="http://schemas.openxmlformats.org/officeDocument/2006/relationships/notesSlide" Target="../notesSlides/notesSlide12.xml"/><Relationship Id="Rc73cb52e739e4fb7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473f508476e46e7" Type="http://schemas.openxmlformats.org/officeDocument/2006/relationships/notesSlide" Target="../notesSlides/notesSlide13.xml"/><Relationship Id="R48d1496cf1f74e8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a4ea3539eb7c45e4" Type="http://schemas.openxmlformats.org/officeDocument/2006/relationships/slideLayout" Target="../slideLayouts/slideLayout1.xml"/><Relationship Id="Rccbae0872e534c28" Type="http://schemas.openxmlformats.org/officeDocument/2006/relationships/notesSlide" Target="../notesSlides/notesSlide14.xml"/><Relationship Id="Rd374dcc33902420c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1A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c59932d3643eb"/>
          <a:stretch xmlns:a="http://schemas.openxmlformats.org/drawingml/2006/main"/>
        </p:blipFill>
        <p:spPr>
          <a:xfrm xmlns:a="http://schemas.openxmlformats.org/drawingml/2006/main">
            <a:off x="685800" y="500577"/>
            <a:ext cx="3143250" cy="865746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0C4C104-29FF-4106-96CA-3C19EA1D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781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6F3ED"/>
                </a:solidFill>
              </a:defRPr>
            </a:pPr>
            <a:r>
              <a:rPr sz="4950" b="1">
                <a:solidFill>
                  <a:srgbClr val="F6F3ED"/>
                </a:solidFill>
              </a:rPr>
              <a:t>La operación completa</a:t>
            </a:r>
          </a:p>
          <a:p xmlns:a="http://schemas.openxmlformats.org/drawingml/2006/main">
            <a:pPr algn="l">
              <a:defRPr sz="4950" b="1">
                <a:solidFill>
                  <a:srgbClr val="F6F3ED"/>
                </a:solidFill>
              </a:defRPr>
            </a:pPr>
            <a:r>
              <a:rPr sz="4950" b="1">
                <a:solidFill>
                  <a:srgbClr val="F6F3ED"/>
                </a:solidFill>
              </a:rPr>
              <a:t>de tu club, en un solo lugar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DF95A-3E54-4A10-BF55-558D7F06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95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2C7"/>
                </a:solidFill>
              </a:defRPr>
            </a:pPr>
            <a:r>
              <a:rPr sz="1800" b="0">
                <a:solidFill>
                  <a:srgbClr val="D8D2C7"/>
                </a:solidFill>
              </a:rPr>
              <a:t>Reservas, socios, cobros presenciales, competiciones y comunicación sobre un mismo dato. El equipo trabaja con claridad y el jugador reserva solo, desde el móvil, a cualquier hora.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1F660-1F76-4730-9BE2-64F30A45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104900"/>
            <a:ext cx="2428875" cy="38100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82420"/>
          </a:solidFill>
          <a:ln xmlns:a="http://schemas.openxmlformats.org/drawingml/2006/main" w="9525">
            <a:solidFill>
              <a:srgbClr val="3732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EFD5B-DD06-4B3A-8884-157831A1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BF9C"/>
                </a:solidFill>
              </a:defRPr>
            </a:pPr>
            <a:r>
              <a:rPr sz="975" b="1">
                <a:solidFill>
                  <a:srgbClr val="6FBF9C"/>
                </a:solidFill>
              </a:rPr>
              <a:t>HOY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F8A56-BFCD-48E8-887C-090C1B75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52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3ED"/>
                </a:solidFill>
              </a:defRPr>
            </a:pPr>
            <a:r>
              <a:rPr sz="1950" b="1">
                <a:solidFill>
                  <a:srgbClr val="F6F3ED"/>
                </a:solidFill>
              </a:rPr>
              <a:t>Operación en vivo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26DD4-7A87-42E7-9A5C-A2285B70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098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22A"/>
          </a:solidFill>
          <a:ln xmlns:a="http://schemas.openxmlformats.org/drawingml/2006/main" w="0">
            <a:solidFill>
              <a:srgbClr val="3732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80209-301E-4616-A515-B0B7D0C5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EDE4"/>
                </a:solidFill>
              </a:defRPr>
            </a:pPr>
            <a:r>
              <a:rPr sz="1125" b="1">
                <a:solidFill>
                  <a:srgbClr val="F1EDE4"/>
                </a:solidFill>
              </a:rPr>
              <a:t>09:00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67600-A209-4BC4-BE2A-DA25DDD6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050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DE4"/>
                </a:solidFill>
              </a:defRPr>
            </a:pPr>
            <a:r>
              <a:rPr sz="1050" b="0">
                <a:solidFill>
                  <a:srgbClr val="F1EDE4"/>
                </a:solidFill>
              </a:rPr>
              <a:t>Pista Central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9A591-29C1-4700-85E9-9F71ADA8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BF9C"/>
                </a:solidFill>
              </a:defRPr>
            </a:pPr>
            <a:r>
              <a:rPr sz="825" b="0">
                <a:solidFill>
                  <a:srgbClr val="6FBF9C"/>
                </a:solidFill>
              </a:rPr>
              <a:t>Pagada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7BABD-9001-40A9-B233-114C4F6E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22A"/>
          </a:solidFill>
          <a:ln xmlns:a="http://schemas.openxmlformats.org/drawingml/2006/main" w="0">
            <a:solidFill>
              <a:srgbClr val="3732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C4678-CE53-4A40-8EC3-FD433355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EDE4"/>
                </a:solidFill>
              </a:defRPr>
            </a:pPr>
            <a:r>
              <a:rPr sz="1125" b="1">
                <a:solidFill>
                  <a:srgbClr val="F1EDE4"/>
                </a:solidFill>
              </a:rPr>
              <a:t>10:30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17E2A-CB25-4D32-8264-5B614E13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DE4"/>
                </a:solidFill>
              </a:defRPr>
            </a:pPr>
            <a:r>
              <a:rPr sz="1050" b="0">
                <a:solidFill>
                  <a:srgbClr val="F1EDE4"/>
                </a:solidFill>
              </a:rPr>
              <a:t>Pista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93008-466A-4538-A292-5987BC20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242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5B05C"/>
                </a:solidFill>
              </a:defRPr>
            </a:pPr>
            <a:r>
              <a:rPr sz="825" b="0">
                <a:solidFill>
                  <a:srgbClr val="E5B05C"/>
                </a:solidFill>
              </a:rPr>
              <a:t>Pendiente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DAF79-F7DC-4907-8EEC-FE79BA23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909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22A"/>
          </a:solidFill>
          <a:ln xmlns:a="http://schemas.openxmlformats.org/drawingml/2006/main" w="0">
            <a:solidFill>
              <a:srgbClr val="3732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E7757-87FF-407B-AEB6-CEF45104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86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EDE4"/>
                </a:solidFill>
              </a:defRPr>
            </a:pPr>
            <a:r>
              <a:rPr sz="1125" b="1">
                <a:solidFill>
                  <a:srgbClr val="F1EDE4"/>
                </a:solidFill>
              </a:rPr>
              <a:t>12:00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5559A-A257-4227-AF8A-B6E944C9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861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DE4"/>
                </a:solidFill>
              </a:defRPr>
            </a:pPr>
            <a:r>
              <a:rPr sz="1050" b="0">
                <a:solidFill>
                  <a:srgbClr val="F1EDE4"/>
                </a:solidFill>
              </a:rPr>
              <a:t>Pista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F2405-A00A-468F-9A83-B56FDE4F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147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BF9C"/>
                </a:solidFill>
              </a:defRPr>
            </a:pPr>
            <a:r>
              <a:rPr sz="825" b="0">
                <a:solidFill>
                  <a:srgbClr val="6FBF9C"/>
                </a:solidFill>
              </a:rPr>
              <a:t>Libre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BD6B3-5FCC-44D8-9FE6-252EF45C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22A"/>
          </a:solidFill>
          <a:ln xmlns:a="http://schemas.openxmlformats.org/drawingml/2006/main" w="0">
            <a:solidFill>
              <a:srgbClr val="3732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0132F-E125-4782-94FC-E738FBAE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767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EDE4"/>
                </a:solidFill>
              </a:defRPr>
            </a:pPr>
            <a:r>
              <a:rPr sz="1125" b="1">
                <a:solidFill>
                  <a:srgbClr val="F1EDE4"/>
                </a:solidFill>
              </a:rPr>
              <a:t>18:00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CB13F-2E71-4280-950A-F3615729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767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1EDE4"/>
                </a:solidFill>
              </a:defRPr>
            </a:pPr>
            <a:r>
              <a:rPr sz="1050" b="0">
                <a:solidFill>
                  <a:srgbClr val="F1EDE4"/>
                </a:solidFill>
              </a:rPr>
              <a:t>Pista Central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A221A-BFED-45A9-A3E0-B1695643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053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BF9C"/>
                </a:solidFill>
              </a:defRPr>
            </a:pPr>
            <a:r>
              <a:rPr sz="825" b="0">
                <a:solidFill>
                  <a:srgbClr val="6FBF9C"/>
                </a:solidFill>
              </a:rPr>
              <a:t>Partida abierta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A5FD30-92A5-4E5E-8313-B5820E9E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39C8E"/>
                </a:solidFill>
              </a:defRPr>
            </a:pPr>
            <a:r>
              <a:rPr sz="900" b="0">
                <a:solidFill>
                  <a:srgbClr val="A39C8E"/>
                </a:solidFill>
              </a:rPr>
              <a:t>Presentación comercial ·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25B50-36EA-4FA6-938B-B44565AA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39C8E"/>
                </a:solidFill>
              </a:defRPr>
            </a:pPr>
            <a:r>
              <a:rPr sz="900" b="0">
                <a:solidFill>
                  <a:srgbClr val="A39C8E"/>
                </a:solidFill>
              </a:rPr>
              <a:t>padelclubos.com</a:t>
            </a:r>
          </a:p>
        </p:txBody>
      </p:sp>
      <p:sp xmlns:a="http://schemas.openxmlformats.org/drawingml/2006/main">
        <p:nvSpPr>
          <p:cNvPr id="26" name="cover-kicker"/>
          <p:cNvSpPr txBox="1"/>
          <p:nvPr/>
        </p:nvSpPr>
        <p:spPr>
          <a:xfrm>
            <a:off x="685800" y="1371600"/>
            <a:ext cx="7810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PADELCLUB OS · GESTIÓN INTEGRAL DE CLUBES DE PÁDEL</a:t>
            </a:r>
          </a:p>
        </p:txBody>
      </p:sp>
    </p:spTree>
    <p:extLst>
      <p:ext uri="{BB962C8B-B14F-4D97-AF65-F5344CB8AC3E}">
        <p14:creationId xmlns:p14="http://schemas.microsoft.com/office/powerpoint/2010/main" val="99543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87025E3-4AFD-4EF9-82C1-107DA1C7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LA REALIDAD OPERATIVA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8D5066-A9A9-411E-9D43-4B28A655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El problema no es llenar pistas. Es coordinar todo lo que ocurre alrededor.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E80BF-A337-44AB-8048-56C56C0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02E"/>
          </a:solidFill>
          <a:ln xmlns:a="http://schemas.openxmlformats.org/drawingml/2006/main" w="0">
            <a:solidFill>
              <a:srgbClr val="B3402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74952-5393-468E-A626-810401EF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1A17"/>
                </a:solidFill>
              </a:defRPr>
            </a:pPr>
            <a:r>
              <a:rPr sz="1575" b="1">
                <a:solidFill>
                  <a:srgbClr val="1C1A17"/>
                </a:solidFill>
              </a:rPr>
              <a:t>La agenda vive en tres sitios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DBE7A-D868-4BD8-8D2B-699C6D4C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Teléfono, WhatsApp y hojas de cálculo guardan versiones distintas de la misma reserva. La verdadera está en la cabeza de alguien.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C0C41-74CC-4A55-AA68-DB8AA77D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71E"/>
          </a:solidFill>
          <a:ln xmlns:a="http://schemas.openxmlformats.org/drawingml/2006/main" w="0">
            <a:solidFill>
              <a:srgbClr val="C787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0E8B7-B4D7-4353-B046-06157D59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1A17"/>
                </a:solidFill>
              </a:defRPr>
            </a:pPr>
            <a:r>
              <a:rPr sz="1575" b="1">
                <a:solidFill>
                  <a:srgbClr val="1C1A17"/>
                </a:solidFill>
              </a:rPr>
              <a:t>El cobro depende de la memoria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04357-E694-4890-ABE2-0CFA9F8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¿Quién ha pagado su parte? ¿Cuánto falta? ¿Quién lo cobró? Responder de memoria acaba costando dinero al cierre de caja.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B89FF-B5D8-4641-8C38-DE5A756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C0"/>
          </a:solidFill>
          <a:ln xmlns:a="http://schemas.openxmlformats.org/drawingml/2006/main" w="0">
            <a:solidFill>
              <a:srgbClr val="2E63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A1F90-CEF2-45AD-A9F2-6CC6DB88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1A17"/>
                </a:solidFill>
              </a:defRPr>
            </a:pPr>
            <a:r>
              <a:rPr sz="1575" b="1">
                <a:solidFill>
                  <a:srgbClr val="1C1A17"/>
                </a:solidFill>
              </a:rPr>
              <a:t>La información llega tarde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88EF1-E5E0-4CFA-8F38-F547D95B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Cambios que no se avisan, socios que se enteran en la puerta y decisiones de negocio tomadas por intuición.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5D6E2-C36C-44FF-BFC5-7AB14BFC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41910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1C1A17"/>
          </a:solidFill>
          <a:ln xmlns:a="http://schemas.openxmlformats.org/drawingml/2006/main" w="0">
            <a:solidFill>
              <a:srgbClr val="1C1A1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FD155-17C4-4B0F-B37A-96EFCE13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67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3ED"/>
                </a:solidFill>
              </a:defRPr>
            </a:pPr>
            <a:r>
              <a:rPr sz="1800" b="1">
                <a:solidFill>
                  <a:srgbClr val="F6F3ED"/>
                </a:solidFill>
              </a:rPr>
              <a:t>Una reserva cambia de hora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CB367-08AC-49ED-9A1D-58910F0F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194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54"/>
          </a:solidFill>
          <a:ln xmlns:a="http://schemas.openxmlformats.org/drawingml/2006/main" w="0">
            <a:solidFill>
              <a:srgbClr val="157A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04526-43A4-47B5-9035-28ACD1EB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480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DFCFA"/>
                </a:solidFill>
              </a:defRPr>
            </a:pPr>
            <a:r>
              <a:rPr sz="975" b="1">
                <a:solidFill>
                  <a:srgbClr val="FDFCFA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B9FB1-3D49-4736-BD3E-B983C99C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48025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2D8"/>
                </a:solidFill>
              </a:defRPr>
            </a:pPr>
            <a:r>
              <a:rPr sz="1200" b="0">
                <a:solidFill>
                  <a:srgbClr val="E7E2D8"/>
                </a:solidFill>
              </a:rPr>
              <a:t>Alguien avisa por mensaje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CDD38-3997-42B2-982F-16A832F9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95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54"/>
          </a:solidFill>
          <a:ln xmlns:a="http://schemas.openxmlformats.org/drawingml/2006/main" w="0">
            <a:solidFill>
              <a:srgbClr val="157A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BBA94-0FA0-4023-8DB2-6C642AE6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242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DFCFA"/>
                </a:solidFill>
              </a:defRPr>
            </a:pPr>
            <a:r>
              <a:rPr sz="975" b="1">
                <a:solidFill>
                  <a:srgbClr val="FDFCFA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7E89E-50BF-4DBE-9422-4A26F346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24275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2D8"/>
                </a:solidFill>
              </a:defRPr>
            </a:pPr>
            <a:r>
              <a:rPr sz="1200" b="0">
                <a:solidFill>
                  <a:srgbClr val="E7E2D8"/>
                </a:solidFill>
              </a:rPr>
              <a:t>Recepción actualiza una hoja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0BA41-0B17-4AE4-9767-8B23789A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719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54"/>
          </a:solidFill>
          <a:ln xmlns:a="http://schemas.openxmlformats.org/drawingml/2006/main" w="0">
            <a:solidFill>
              <a:srgbClr val="157A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FC16E-3C45-411A-8A87-003A7EE4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005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DFCFA"/>
                </a:solidFill>
              </a:defRPr>
            </a:pPr>
            <a:r>
              <a:rPr sz="975" b="1">
                <a:solidFill>
                  <a:srgbClr val="FDFCFA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7A7ED-D798-4301-9C92-D890C725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00525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2D8"/>
                </a:solidFill>
              </a:defRPr>
            </a:pPr>
            <a:r>
              <a:rPr sz="1200" b="0">
                <a:solidFill>
                  <a:srgbClr val="E7E2D8"/>
                </a:solidFill>
              </a:rPr>
              <a:t>El jugador conserva la hora anterior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FA0E0-308E-4D9F-BDA6-944B9CC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482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402E"/>
          </a:solidFill>
          <a:ln xmlns:a="http://schemas.openxmlformats.org/drawingml/2006/main" w="0">
            <a:solidFill>
              <a:srgbClr val="B3402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29230-6B1C-4D1B-BC27-1DAABA23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76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DFCFA"/>
                </a:solidFill>
              </a:defRPr>
            </a:pPr>
            <a:r>
              <a:rPr sz="975" b="1">
                <a:solidFill>
                  <a:srgbClr val="FDFCFA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9829C-2915-4BB6-9C14-4C9941C0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76775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2D8"/>
                </a:solidFill>
              </a:defRPr>
            </a:pPr>
            <a:r>
              <a:rPr sz="1200" b="0">
                <a:solidFill>
                  <a:srgbClr val="E7E2D8"/>
                </a:solidFill>
              </a:rPr>
              <a:t>El club resuelve el conflicto a mano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36B3B-18E4-4E45-A32C-6F536212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F4DC9-FF22-4752-B1FC-9B6FD7BA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6A5AD-4082-410C-9779-49D6E019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18691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A0345F4-B394-400B-BE44-040E4B4F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UNA SOLA FUENTE DE VERDAD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CC306B-5DF7-47E5-A982-092D66BD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Una sola operación, dos experiencias diseñadas para tareas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5D182-1EBA-4784-B5C9-DF1E354B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95875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C1A17"/>
          </a:solidFill>
          <a:ln xmlns:a="http://schemas.openxmlformats.org/drawingml/2006/main" w="0">
            <a:solidFill>
              <a:srgbClr val="1C1A1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85C19-A71A-4CFD-9A2C-A94485ED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BF9C"/>
                </a:solidFill>
              </a:defRPr>
            </a:pPr>
            <a:r>
              <a:rPr sz="900" b="1">
                <a:solidFill>
                  <a:srgbClr val="6FBF9C"/>
                </a:solidFill>
              </a:rPr>
              <a:t>EQUIPO DEL CLUB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30568-DA32-4AF9-BA79-EC48EB09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3ED"/>
                </a:solidFill>
              </a:defRPr>
            </a:pPr>
            <a:r>
              <a:rPr sz="2550" b="1">
                <a:solidFill>
                  <a:srgbClr val="F6F3ED"/>
                </a:solidFill>
              </a:rPr>
              <a:t>Velocidad y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457C3-F986-44A2-B2AB-D9A6ED75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2C7"/>
                </a:solidFill>
              </a:defRPr>
            </a:pPr>
            <a:r>
              <a:rPr sz="1500" b="0">
                <a:solidFill>
                  <a:srgbClr val="D8D2C7"/>
                </a:solidFill>
              </a:rPr>
              <a:t>Agenda por pistas</a:t>
            </a:r>
          </a:p>
          <a:p xmlns:a="http://schemas.openxmlformats.org/drawingml/2006/main">
            <a:pPr algn="l">
              <a:defRPr sz="1500" b="0">
                <a:solidFill>
                  <a:srgbClr val="D8D2C7"/>
                </a:solidFill>
              </a:defRPr>
            </a:pPr>
            <a:r>
              <a:rPr sz="1500" b="0">
                <a:solidFill>
                  <a:srgbClr val="D8D2C7"/>
                </a:solidFill>
              </a:rPr>
              <a:t>Cobros por jugador</a:t>
            </a:r>
          </a:p>
          <a:p xmlns:a="http://schemas.openxmlformats.org/drawingml/2006/main">
            <a:pPr algn="l">
              <a:defRPr sz="1500" b="0">
                <a:solidFill>
                  <a:srgbClr val="D8D2C7"/>
                </a:solidFill>
              </a:defRPr>
            </a:pPr>
            <a:r>
              <a:rPr sz="1500" b="0">
                <a:solidFill>
                  <a:srgbClr val="D8D2C7"/>
                </a:solidFill>
              </a:rPr>
              <a:t>Socios y equipo</a:t>
            </a:r>
          </a:p>
          <a:p xmlns:a="http://schemas.openxmlformats.org/drawingml/2006/main">
            <a:pPr algn="l">
              <a:defRPr sz="1500" b="0">
                <a:solidFill>
                  <a:srgbClr val="D8D2C7"/>
                </a:solidFill>
              </a:defRPr>
            </a:pPr>
            <a:r>
              <a:rPr sz="1500" b="0">
                <a:solidFill>
                  <a:srgbClr val="D8D2C7"/>
                </a:solidFill>
              </a:rPr>
              <a:t>Bloqueos y clases fijas</a:t>
            </a:r>
          </a:p>
          <a:p xmlns:a="http://schemas.openxmlformats.org/drawingml/2006/main">
            <a:pPr algn="l">
              <a:defRPr sz="1500" b="0">
                <a:solidFill>
                  <a:srgbClr val="D8D2C7"/>
                </a:solidFill>
              </a:defRPr>
            </a:pPr>
            <a:r>
              <a:rPr sz="1500" b="0">
                <a:solidFill>
                  <a:srgbClr val="D8D2C7"/>
                </a:solidFill>
              </a:rPr>
              <a:t>Analítica y trazabilidad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1C249-8626-4542-9F07-7A44B640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4102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1C26E-784E-4C31-BD15-DB1244FA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A54"/>
                </a:solidFill>
              </a:defRPr>
            </a:pPr>
            <a:r>
              <a:rPr sz="900" b="1">
                <a:solidFill>
                  <a:srgbClr val="157A54"/>
                </a:solidFill>
              </a:rPr>
              <a:t>JUGADORES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C9858-F781-4C18-8696-EA0AA850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1A17"/>
                </a:solidFill>
              </a:defRPr>
            </a:pPr>
            <a:r>
              <a:rPr sz="2550" b="1">
                <a:solidFill>
                  <a:srgbClr val="1C1A17"/>
                </a:solidFill>
              </a:rPr>
              <a:t>Móvil, directo y con la marca del club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B4089-0CC0-4944-8D8C-A920D749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75D"/>
                </a:solidFill>
              </a:defRPr>
            </a:pPr>
            <a:r>
              <a:rPr sz="1500" b="0">
                <a:solidFill>
                  <a:srgbClr val="6E675D"/>
                </a:solidFill>
              </a:rPr>
              <a:t>Reservar 24/7, cancelar y reagendar</a:t>
            </a:r>
          </a:p>
          <a:p xmlns:a="http://schemas.openxmlformats.org/drawingml/2006/main">
            <a:pPr algn="l">
              <a:defRPr sz="1500" b="0">
                <a:solidFill>
                  <a:srgbClr val="6E675D"/>
                </a:solidFill>
              </a:defRPr>
            </a:pPr>
            <a:r>
              <a:rPr sz="1500" b="0">
                <a:solidFill>
                  <a:srgbClr val="6E675D"/>
                </a:solidFill>
              </a:rPr>
              <a:t>Unirse a partidas abiertas</a:t>
            </a:r>
          </a:p>
          <a:p xmlns:a="http://schemas.openxmlformats.org/drawingml/2006/main">
            <a:pPr algn="l">
              <a:defRPr sz="1500" b="0">
                <a:solidFill>
                  <a:srgbClr val="6E675D"/>
                </a:solidFill>
              </a:defRPr>
            </a:pPr>
            <a:r>
              <a:rPr sz="1500" b="0">
                <a:solidFill>
                  <a:srgbClr val="6E675D"/>
                </a:solidFill>
              </a:rPr>
              <a:t>Apuntarse a la lista de espera</a:t>
            </a:r>
          </a:p>
          <a:p xmlns:a="http://schemas.openxmlformats.org/drawingml/2006/main">
            <a:pPr algn="l">
              <a:defRPr sz="1500" b="0">
                <a:solidFill>
                  <a:srgbClr val="6E675D"/>
                </a:solidFill>
              </a:defRPr>
            </a:pPr>
            <a:r>
              <a:rPr sz="1500" b="0">
                <a:solidFill>
                  <a:srgbClr val="6E675D"/>
                </a:solidFill>
              </a:rPr>
              <a:t>Seguir competiciones y rankings</a:t>
            </a:r>
          </a:p>
          <a:p xmlns:a="http://schemas.openxmlformats.org/drawingml/2006/main">
            <a:pPr algn="l">
              <a:defRPr sz="1500" b="0">
                <a:solidFill>
                  <a:srgbClr val="6E675D"/>
                </a:solidFill>
              </a:defRPr>
            </a:pPr>
            <a:r>
              <a:rPr sz="1500" b="0">
                <a:solidFill>
                  <a:srgbClr val="6E675D"/>
                </a:solidFill>
              </a:rPr>
              <a:t>Noticias, perfil y avisos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74827-4F37-46FF-9722-DDA89424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72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A54"/>
                </a:solidFill>
              </a:defRPr>
            </a:pPr>
            <a:r>
              <a:rPr sz="1350" b="1">
                <a:solidFill>
                  <a:srgbClr val="157A54"/>
                </a:solidFill>
              </a:rPr>
              <a:t>Mismo dato · distinta experiencia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DA04A-B594-4882-B3C1-902D7D6D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09379-C413-4C37-9E05-F131D483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64DB8-8822-4FF8-83DF-69AC3844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719509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7D469E8-2B4F-4ABA-8F3B-B832D761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RESERVAS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10C941-5259-41CA-BFDF-439F2E50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La agenda convierte cada pista en una fuente de verdad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1C961-02E9-4736-9030-2A929285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75D"/>
                </a:solidFill>
              </a:defRPr>
            </a:pPr>
            <a:r>
              <a:rPr sz="1575" b="0">
                <a:solidFill>
                  <a:srgbClr val="6E675D"/>
                </a:solidFill>
              </a:rPr>
              <a:t>Disponibilidad, bloqueos, partidas abiertas y estado de cobro en una sola vista. Nadie vuelve a reconstruir la jornada desde mensajes.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2CE6D-43F5-47A6-8C71-7652EC91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C1A17"/>
                </a:solidFill>
              </a:defRPr>
            </a:pPr>
            <a:r>
              <a:rPr sz="1200" b="1">
                <a:solidFill>
                  <a:srgbClr val="1C1A17"/>
                </a:solidFill>
              </a:rPr>
              <a:t>Pista Central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F7209-5C97-41AB-8E52-0EE6378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8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C1A17"/>
                </a:solidFill>
              </a:defRPr>
            </a:pPr>
            <a:r>
              <a:rPr sz="1200" b="1">
                <a:solidFill>
                  <a:srgbClr val="1C1A17"/>
                </a:solidFill>
              </a:rPr>
              <a:t>Pista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0B893-BDB8-4A18-BE2A-7DA3C7A8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C1A17"/>
                </a:solidFill>
              </a:defRPr>
            </a:pPr>
            <a:r>
              <a:rPr sz="1200" b="1">
                <a:solidFill>
                  <a:srgbClr val="1C1A17"/>
                </a:solidFill>
              </a:rPr>
              <a:t>Pista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E6FC6-E740-40F8-9EE5-DF32745F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675D"/>
                </a:solidFill>
              </a:defRPr>
            </a:pPr>
            <a:r>
              <a:rPr sz="1350" b="1">
                <a:solidFill>
                  <a:srgbClr val="6E675D"/>
                </a:solidFill>
              </a:rPr>
              <a:t>18:00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91239-8FF1-4034-BA33-02100596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4E6"/>
          </a:solidFill>
          <a:ln xmlns:a="http://schemas.openxmlformats.org/drawingml/2006/main" w="9525">
            <a:solidFill>
              <a:srgbClr val="C8E4C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DCA0F-25EF-4E8D-BDCD-6CA208D4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718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5C3F"/>
                </a:solidFill>
              </a:defRPr>
            </a:pPr>
            <a:r>
              <a:rPr sz="1125" b="1">
                <a:solidFill>
                  <a:srgbClr val="0E5C3F"/>
                </a:solidFill>
              </a:rPr>
              <a:t>Pagada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D8F34-1DAE-4DDB-9D9E-6F563870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F1DD"/>
          </a:solidFill>
          <a:ln xmlns:a="http://schemas.openxmlformats.org/drawingml/2006/main" w="9525">
            <a:solidFill>
              <a:srgbClr val="EFD9A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CA841-9DD8-4914-BD16-EE3A3ACB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871E"/>
                </a:solidFill>
              </a:defRPr>
            </a:pPr>
            <a:r>
              <a:rPr sz="1125" b="1">
                <a:solidFill>
                  <a:srgbClr val="C7871E"/>
                </a:solidFill>
              </a:rPr>
              <a:t>Pendiente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58C0C-1AF9-4C92-8BC7-DC945983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13E3A-0C35-4F83-9857-F3494EF9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718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1A17"/>
                </a:solidFill>
              </a:defRPr>
            </a:pPr>
            <a:r>
              <a:rPr sz="1125" b="0">
                <a:solidFill>
                  <a:srgbClr val="1C1A17"/>
                </a:solidFill>
              </a:rPr>
              <a:t>Libre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FF59D-C256-43A7-9601-D8D5961F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675D"/>
                </a:solidFill>
              </a:defRPr>
            </a:pPr>
            <a:r>
              <a:rPr sz="1350" b="1">
                <a:solidFill>
                  <a:srgbClr val="6E675D"/>
                </a:solidFill>
              </a:rPr>
              <a:t>19:30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BD258-C3CA-47B3-ABB4-0D0D3281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157A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78FFB-DC96-437A-AE5F-A4C150A1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90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1A17"/>
                </a:solidFill>
              </a:defRPr>
            </a:pPr>
            <a:r>
              <a:rPr sz="1125" b="1">
                <a:solidFill>
                  <a:srgbClr val="1C1A17"/>
                </a:solidFill>
              </a:rPr>
              <a:t>Partida abierta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9A5CE-5E06-4EA5-9A52-E83DBC75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0045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4E6"/>
          </a:solidFill>
          <a:ln xmlns:a="http://schemas.openxmlformats.org/drawingml/2006/main" w="9525">
            <a:solidFill>
              <a:srgbClr val="C8E4C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B8D23-8754-4FB4-A17E-1F61685D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90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5C3F"/>
                </a:solidFill>
              </a:defRPr>
            </a:pPr>
            <a:r>
              <a:rPr sz="1125" b="1">
                <a:solidFill>
                  <a:srgbClr val="0E5C3F"/>
                </a:solidFill>
              </a:rPr>
              <a:t>Pagada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37F48-C42C-457C-AE80-D71C5075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157A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96ED2-2147-4D12-9FF3-1D516E5E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90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1A17"/>
                </a:solidFill>
              </a:defRPr>
            </a:pPr>
            <a:r>
              <a:rPr sz="1125" b="1">
                <a:solidFill>
                  <a:srgbClr val="1C1A17"/>
                </a:solidFill>
              </a:rPr>
              <a:t>Bloqueo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3D4A0-0DF6-4F58-A7FD-A06ACF15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675D"/>
                </a:solidFill>
              </a:defRPr>
            </a:pPr>
            <a:r>
              <a:rPr sz="1350" b="1">
                <a:solidFill>
                  <a:srgbClr val="6E675D"/>
                </a:solidFill>
              </a:rPr>
              <a:t>21:00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1E958-2369-49E8-992D-0271E916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960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A4FD6-60DC-49B5-B7A8-3299E5CD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101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1A17"/>
                </a:solidFill>
              </a:defRPr>
            </a:pPr>
            <a:r>
              <a:rPr sz="1125" b="0">
                <a:solidFill>
                  <a:srgbClr val="1C1A17"/>
                </a:solidFill>
              </a:rPr>
              <a:t>Libre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47759-C0F1-413F-8B26-D5E4ACCD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1960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CBD57-A2B2-462F-BBFF-FCB98D67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101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1A17"/>
                </a:solidFill>
              </a:defRPr>
            </a:pPr>
            <a:r>
              <a:rPr sz="1125" b="0">
                <a:solidFill>
                  <a:srgbClr val="1C1A17"/>
                </a:solidFill>
              </a:rPr>
              <a:t>Libre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3EF49-ADA4-4BAB-A5E8-3EDFD5F7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19600"/>
            <a:ext cx="238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4E6"/>
          </a:solidFill>
          <a:ln xmlns:a="http://schemas.openxmlformats.org/drawingml/2006/main" w="9525">
            <a:solidFill>
              <a:srgbClr val="C8E4C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B6EC23-62D4-4CBE-AF5D-A1665DF1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101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5C3F"/>
                </a:solidFill>
              </a:defRPr>
            </a:pPr>
            <a:r>
              <a:rPr sz="1125" b="1">
                <a:solidFill>
                  <a:srgbClr val="0E5C3F"/>
                </a:solidFill>
              </a:rPr>
              <a:t>Pagada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214312-80E6-471E-9FE5-2F0375F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6388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5C3F"/>
                </a:solidFill>
              </a:defRPr>
            </a:pPr>
            <a:r>
              <a:rPr sz="1350" b="1">
                <a:solidFill>
                  <a:srgbClr val="0E5C3F"/>
                </a:solidFill>
              </a:rPr>
              <a:t>Crear, editar, cancelar, reagendar y repetir. Clases fijas, bloqueos y lista de espera con aviso automático al liberarse una plaza.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9B17F-1B77-4012-892B-80525350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C54AB3-2A8F-40DC-951E-3D3D4CD3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32B90-4A33-4CEB-AD08-8B70BAE2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2071965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71F4A2E-3CE9-410E-9A13-34E0DD62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COBRO PRESENCIAL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71A6DF-AA67-4983-BB93-A6C74475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El cobro deja de depender de memoria y notas sueltas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063FA-C3BF-475F-AF16-5D6E1A07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75D"/>
                </a:solidFill>
              </a:defRPr>
            </a:pPr>
            <a:r>
              <a:rPr sz="1575" b="0">
                <a:solidFill>
                  <a:srgbClr val="6E675D"/>
                </a:solidFill>
              </a:rPr>
              <a:t>Cada participante tiene su importe, su estado y la persona que registró el cobro. El pago se realiza en el club, como siempre; el control queda en el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EAA3E-5504-4836-9A43-D24A75DA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6191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4D9D6-E4E4-4233-99EF-B683B41D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75D"/>
                </a:solidFill>
              </a:defRPr>
            </a:pPr>
            <a:r>
              <a:rPr sz="900" b="1">
                <a:solidFill>
                  <a:srgbClr val="6E675D"/>
                </a:solidFill>
              </a:rPr>
              <a:t>RESERVA · PISTA CENTRAL · 19:30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BE409-F34C-497A-A010-892C5FEB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EF268-7183-4D38-BD7C-2516766A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1A17"/>
                </a:solidFill>
              </a:defRPr>
            </a:pPr>
            <a:r>
              <a:rPr sz="1200" b="0">
                <a:solidFill>
                  <a:srgbClr val="1C1A17"/>
                </a:solidFill>
              </a:rPr>
              <a:t>Ana Torres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FE503-6444-43D2-B123-E403D05E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24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C1A17"/>
                </a:solidFill>
              </a:defRPr>
            </a:pPr>
            <a:r>
              <a:rPr sz="1200" b="1">
                <a:solidFill>
                  <a:srgbClr val="1C1A17"/>
                </a:solidFill>
              </a:rPr>
              <a:t>7,00 €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CD6A0-1FFA-463B-8678-B59F605B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Pagado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E770B-DB5F-497A-AC3F-2E82762B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7DED8-1CB0-4DE4-B2B4-13471409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1A17"/>
                </a:solidFill>
              </a:defRPr>
            </a:pPr>
            <a:r>
              <a:rPr sz="1200" b="0">
                <a:solidFill>
                  <a:srgbClr val="1C1A17"/>
                </a:solidFill>
              </a:rPr>
              <a:t>Luis Costa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B8E2C-3CC5-4C39-897B-8C50BD2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C1A17"/>
                </a:solidFill>
              </a:defRPr>
            </a:pPr>
            <a:r>
              <a:rPr sz="1200" b="1">
                <a:solidFill>
                  <a:srgbClr val="1C1A17"/>
                </a:solidFill>
              </a:rPr>
              <a:t>7,00 €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C730D-B159-43AF-A5B7-153E3330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052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Pagado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860E8-F98D-404C-9A29-22894942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0A0EA-C0A5-41FD-9E6F-0308E4A6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1A17"/>
                </a:solidFill>
              </a:defRPr>
            </a:pPr>
            <a:r>
              <a:rPr sz="1200" b="0">
                <a:solidFill>
                  <a:srgbClr val="1C1A17"/>
                </a:solidFill>
              </a:rPr>
              <a:t>Marta León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D6DE4-5CCD-4AD6-96CE-F33B2FA0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86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C1A17"/>
                </a:solidFill>
              </a:defRPr>
            </a:pPr>
            <a:r>
              <a:rPr sz="1200" b="1">
                <a:solidFill>
                  <a:srgbClr val="1C1A17"/>
                </a:solidFill>
              </a:rPr>
              <a:t>7,00 €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33195-B833-4F68-9E78-26A34EA3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871E"/>
                </a:solidFill>
              </a:defRPr>
            </a:pPr>
            <a:r>
              <a:rPr sz="1050" b="1">
                <a:solidFill>
                  <a:srgbClr val="C7871E"/>
                </a:solidFill>
              </a:rPr>
              <a:t>Pendiente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89291-7AEA-40C5-B3DB-EA52CB69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5F3E9-7171-4788-8779-27C595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1A17"/>
                </a:solidFill>
              </a:defRPr>
            </a:pPr>
            <a:r>
              <a:rPr sz="1200" b="0">
                <a:solidFill>
                  <a:srgbClr val="1C1A17"/>
                </a:solidFill>
              </a:rPr>
              <a:t>Invitado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A715D-B7DC-4FF7-82E0-6103756F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67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C1A17"/>
                </a:solidFill>
              </a:defRPr>
            </a:pPr>
            <a:r>
              <a:rPr sz="1200" b="1">
                <a:solidFill>
                  <a:srgbClr val="1C1A17"/>
                </a:solidFill>
              </a:rPr>
              <a:t>7,00 €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F11C6-2A02-46E2-907A-3C8C50EC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672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871E"/>
                </a:solidFill>
              </a:defRPr>
            </a:pPr>
            <a:r>
              <a:rPr sz="1050" b="1">
                <a:solidFill>
                  <a:srgbClr val="C7871E"/>
                </a:solidFill>
              </a:rPr>
              <a:t>Pendiente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EE425-FA89-44B3-88E3-74C44F6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1885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9F4E6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95EE0-20FA-4D47-9B4E-B3ADB363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75D"/>
                </a:solidFill>
              </a:defRPr>
            </a:pPr>
            <a:r>
              <a:rPr sz="825" b="1">
                <a:solidFill>
                  <a:srgbClr val="6E675D"/>
                </a:solidFill>
              </a:rPr>
              <a:t>COBRADO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E45C9-CB1C-4A6C-80A6-05CFF028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528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5C3F"/>
                </a:solidFill>
              </a:defRPr>
            </a:pPr>
            <a:r>
              <a:rPr sz="2325" b="1">
                <a:solidFill>
                  <a:srgbClr val="0E5C3F"/>
                </a:solidFill>
              </a:rPr>
              <a:t>14,00 €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6F13E-8EEF-481A-85BC-6878A543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95600"/>
            <a:ext cx="1885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BF1DD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DFA54-1B2D-4BBD-902F-5AE869CA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67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75D"/>
                </a:solidFill>
              </a:defRPr>
            </a:pPr>
            <a:r>
              <a:rPr sz="825" b="1">
                <a:solidFill>
                  <a:srgbClr val="6E675D"/>
                </a:solidFill>
              </a:rPr>
              <a:t>PENDIENTE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FC7B20-3AB4-4AE4-B772-5D916777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528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7871E"/>
                </a:solidFill>
              </a:defRPr>
            </a:pPr>
            <a:r>
              <a:rPr sz="2325" b="1">
                <a:solidFill>
                  <a:srgbClr val="C7871E"/>
                </a:solidFill>
              </a:rPr>
              <a:t>14,00 €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181D9A-B743-41E0-8CFA-794B7FBB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1A17"/>
                </a:solidFill>
              </a:defRPr>
            </a:pPr>
            <a:r>
              <a:rPr sz="1500" b="1">
                <a:solidFill>
                  <a:srgbClr val="1C1A17"/>
                </a:solidFill>
              </a:rPr>
              <a:t>Sin TPV fiscal integrado</a:t>
            </a:r>
          </a:p>
          <a:p xmlns:a="http://schemas.openxmlformats.org/drawingml/2006/main">
            <a:pPr algn="ctr">
              <a:defRPr sz="1500" b="1">
                <a:solidFill>
                  <a:srgbClr val="1C1A17"/>
                </a:solidFill>
              </a:defRPr>
            </a:pPr>
            <a:r>
              <a:rPr sz="1500" b="1">
                <a:solidFill>
                  <a:srgbClr val="1C1A17"/>
                </a:solidFill>
              </a:rPr>
              <a:t>Sin checkout de reservas</a:t>
            </a:r>
          </a:p>
          <a:p xmlns:a="http://schemas.openxmlformats.org/drawingml/2006/main">
            <a:pPr algn="ctr">
              <a:defRPr sz="1500" b="1">
                <a:solidFill>
                  <a:srgbClr val="1C1A17"/>
                </a:solidFill>
              </a:defRPr>
            </a:pPr>
            <a:r>
              <a:rPr sz="1500" b="1">
                <a:solidFill>
                  <a:srgbClr val="1C1A17"/>
                </a:solidFill>
              </a:rPr>
              <a:t>Con trazabilidad operativa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1203F-C3EB-47DF-86EC-13E6917D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25A09E-E031-4272-8CEF-B5E9AC0F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06E90-BD70-4983-9DA4-65553ACB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281679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06BE641-031B-4DB0-B9F5-C98FD716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SOCIOS Y PUESTA EN MARCHA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901628-5BFB-4361-BA23-79432A78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Empezar ordenado no exige volver a escribirlo todo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518BC-800A-46A8-8CA6-160399A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75D"/>
                </a:solidFill>
              </a:defRPr>
            </a:pPr>
            <a:r>
              <a:rPr sz="1575" b="0">
                <a:solidFill>
                  <a:srgbClr val="6E675D"/>
                </a:solidFill>
              </a:rPr>
              <a:t>Pistas con sus tarifas, socios y reservas futuras se importan desde archivos CSV compatibles con Excel en español. La vista previa valida antes de tocar 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90E49-E1E9-4D73-AF9D-39BA38E3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2385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E6899-E46A-43F8-8CCC-3B22C8FE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7A54"/>
                </a:solidFill>
              </a:defRPr>
            </a:pPr>
            <a:r>
              <a:rPr sz="1800" b="1">
                <a:solidFill>
                  <a:srgbClr val="157A5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73B2C-BB20-43F3-B547-0C9D387C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1A17"/>
                </a:solidFill>
              </a:defRPr>
            </a:pPr>
            <a:r>
              <a:rPr sz="2100" b="1">
                <a:solidFill>
                  <a:srgbClr val="1C1A17"/>
                </a:solidFill>
              </a:rPr>
              <a:t>Prepara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62F02-0F60-45AF-8179-D4F0EB0B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Descarga una plantilla y conserva las columnas obligatorias.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0ACE4-8E99-4B7E-9C1C-93A40C2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32385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C1A17"/>
          </a:solidFill>
          <a:ln xmlns:a="http://schemas.openxmlformats.org/drawingml/2006/main" w="9525">
            <a:solidFill>
              <a:srgbClr val="1C1A1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FE203-7275-4D60-ABD2-5ECA62BD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BF9C"/>
                </a:solidFill>
              </a:defRPr>
            </a:pPr>
            <a:r>
              <a:rPr sz="1800" b="1">
                <a:solidFill>
                  <a:srgbClr val="6FBF9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7E938-B2B6-4529-841D-14028462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3ED"/>
                </a:solidFill>
              </a:defRPr>
            </a:pPr>
            <a:r>
              <a:rPr sz="2100" b="1">
                <a:solidFill>
                  <a:srgbClr val="F6F3ED"/>
                </a:solidFill>
              </a:rPr>
              <a:t>Revisa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004BD-9325-43A0-A2D2-DF084D05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2C7"/>
                </a:solidFill>
              </a:defRPr>
            </a:pPr>
            <a:r>
              <a:rPr sz="1275" b="0">
                <a:solidFill>
                  <a:srgbClr val="D8D2C7"/>
                </a:solidFill>
              </a:rPr>
              <a:t>La vista previa detecta duplicados y errores por fila.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1992A-8A3B-4F94-A4A3-DE0CCEF7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2385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EF7DF-5DA1-4F2B-AD26-E2E8B201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7A54"/>
                </a:solidFill>
              </a:defRPr>
            </a:pPr>
            <a:r>
              <a:rPr sz="1800" b="1">
                <a:solidFill>
                  <a:srgbClr val="157A5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28CCA-62DA-4907-A5A7-B3A93C96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1A17"/>
                </a:solidFill>
              </a:defRPr>
            </a:pPr>
            <a:r>
              <a:rPr sz="2100" b="1">
                <a:solidFill>
                  <a:srgbClr val="1C1A17"/>
                </a:solidFill>
              </a:rPr>
              <a:t>Importa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22318-DB52-41E9-BE4D-30050D5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Solo entran los registros válidos y queda constancia de quién importó y con qué resultado.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F6CF2-EC7D-459E-A8B9-30904304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5C3F"/>
                </a:solidFill>
              </a:defRPr>
            </a:pPr>
            <a:r>
              <a:rPr sz="1350" b="1">
                <a:solidFill>
                  <a:srgbClr val="0E5C3F"/>
                </a:solidFill>
              </a:rPr>
              <a:t>Comas decimales · punto y coma · campos entrecomillados · mensajes por fila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A4DC2-3887-4557-89B6-E78A2482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5427A-51E1-4F3D-BB00-B38B25C1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DF410-2D85-435E-839C-F1C7577B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936627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D3C7C2C-B310-4957-8753-439E7FAC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COMPETICIÓN Y COMUNIDAD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4CD474-A295-4957-9AA2-8C10A152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La actividad social vive donde los jugadores ya reservan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18B9B-4416-40B2-AB10-894E6BE6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6291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C1A17"/>
          </a:solidFill>
          <a:ln xmlns:a="http://schemas.openxmlformats.org/drawingml/2006/main" w="0">
            <a:solidFill>
              <a:srgbClr val="1C1A1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A771C-2046-4362-9BE6-41F4BFB3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BF9C"/>
                </a:solidFill>
              </a:defRPr>
            </a:pPr>
            <a:r>
              <a:rPr sz="900" b="1">
                <a:solidFill>
                  <a:srgbClr val="6FBF9C"/>
                </a:solidFill>
              </a:rPr>
              <a:t>LIGA DE INVIERNO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2EFB6-D46A-4811-A9C1-19895A1B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3ED"/>
                </a:solidFill>
              </a:defRPr>
            </a:pPr>
            <a:r>
              <a:rPr sz="2100" b="1">
                <a:solidFill>
                  <a:srgbClr val="F6F3ED"/>
                </a:solidFill>
              </a:rPr>
              <a:t>Clasificación actual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9307F-C721-4BF1-9360-0FF9F4F6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22A"/>
          </a:solidFill>
          <a:ln xmlns:a="http://schemas.openxmlformats.org/drawingml/2006/main" w="0">
            <a:solidFill>
              <a:srgbClr val="3732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37C30-03C6-43FF-B25B-70AE763B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BF9C"/>
                </a:solidFill>
              </a:defRPr>
            </a:pPr>
            <a:r>
              <a:rPr sz="1350" b="1">
                <a:solidFill>
                  <a:srgbClr val="6FBF9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1C3F3-A69F-4DAE-AF54-C015A684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62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3ED"/>
                </a:solidFill>
              </a:defRPr>
            </a:pPr>
            <a:r>
              <a:rPr sz="1275" b="1">
                <a:solidFill>
                  <a:srgbClr val="F6F3ED"/>
                </a:solidFill>
              </a:rPr>
              <a:t>Marta / Íñigo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C4BE2-5DCE-49FD-8131-994BFB1B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6F3ED"/>
                </a:solidFill>
              </a:defRPr>
            </a:pPr>
            <a:r>
              <a:rPr sz="1275" b="1">
                <a:solidFill>
                  <a:srgbClr val="F6F3ED"/>
                </a:solidFill>
              </a:rPr>
              <a:t>21 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DF51D-73D3-4877-A544-21CCAF1B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22A"/>
          </a:solidFill>
          <a:ln xmlns:a="http://schemas.openxmlformats.org/drawingml/2006/main" w="0">
            <a:solidFill>
              <a:srgbClr val="3732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B3B3B-271E-4896-A4EE-167B1C7B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BF9C"/>
                </a:solidFill>
              </a:defRPr>
            </a:pPr>
            <a:r>
              <a:rPr sz="1350" b="1">
                <a:solidFill>
                  <a:srgbClr val="6FBF9C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26104-D993-4F86-83DB-B180BB05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3ED"/>
                </a:solidFill>
              </a:defRPr>
            </a:pPr>
            <a:r>
              <a:rPr sz="1275" b="0">
                <a:solidFill>
                  <a:srgbClr val="F6F3ED"/>
                </a:solidFill>
              </a:rPr>
              <a:t>Lucía / Andrés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43DEC-DE59-403A-8795-A4F33305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6F3ED"/>
                </a:solidFill>
              </a:defRPr>
            </a:pPr>
            <a:r>
              <a:rPr sz="1275" b="1">
                <a:solidFill>
                  <a:srgbClr val="F6F3ED"/>
                </a:solidFill>
              </a:rPr>
              <a:t>18 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F278D-79BB-48B7-8238-09693174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22A"/>
          </a:solidFill>
          <a:ln xmlns:a="http://schemas.openxmlformats.org/drawingml/2006/main" w="0">
            <a:solidFill>
              <a:srgbClr val="3732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2A62B-8B8E-4DC9-AC37-8F074AAE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BF9C"/>
                </a:solidFill>
              </a:defRPr>
            </a:pPr>
            <a:r>
              <a:rPr sz="1350" b="1">
                <a:solidFill>
                  <a:srgbClr val="6FBF9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9E31C-C824-4971-8E91-7998C6E6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3ED"/>
                </a:solidFill>
              </a:defRPr>
            </a:pPr>
            <a:r>
              <a:rPr sz="1275" b="0">
                <a:solidFill>
                  <a:srgbClr val="F6F3ED"/>
                </a:solidFill>
              </a:rPr>
              <a:t>Sergio / Pau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280B6-B856-449F-957D-32171579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6F3ED"/>
                </a:solidFill>
              </a:defRPr>
            </a:pPr>
            <a:r>
              <a:rPr sz="1275" b="1">
                <a:solidFill>
                  <a:srgbClr val="F6F3ED"/>
                </a:solidFill>
              </a:rPr>
              <a:t>15 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A8A93-45B6-4212-B68A-AA7F800B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54"/>
          </a:solidFill>
          <a:ln xmlns:a="http://schemas.openxmlformats.org/drawingml/2006/main" w="0">
            <a:solidFill>
              <a:srgbClr val="157A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D652C-F02E-491F-8940-594E2DE6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1A17"/>
                </a:solidFill>
              </a:defRPr>
            </a:pPr>
            <a:r>
              <a:rPr sz="1575" b="1">
                <a:solidFill>
                  <a:srgbClr val="1C1A17"/>
                </a:solidFill>
              </a:rPr>
              <a:t>Partidas abiertas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3071C-44B3-48E3-B748-0DCEA960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Crear, unirse, salir y completar plazas desde el portal.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7B008-A0FE-481D-B3AE-F4CACC9A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C0"/>
          </a:solidFill>
          <a:ln xmlns:a="http://schemas.openxmlformats.org/drawingml/2006/main" w="0">
            <a:solidFill>
              <a:srgbClr val="2E63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13C292-083A-4067-9CF9-84459EF3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1A17"/>
                </a:solidFill>
              </a:defRPr>
            </a:pPr>
            <a:r>
              <a:rPr sz="1575" b="1">
                <a:solidFill>
                  <a:srgbClr val="1C1A17"/>
                </a:solidFill>
              </a:rPr>
              <a:t>Competiciones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E9A19-2ABF-4686-8005-063EC356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Liga, eliminatoria y grupos con resultados y clasificación.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FE753-F8C2-4124-9F74-EC56A8EE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71E"/>
          </a:solidFill>
          <a:ln xmlns:a="http://schemas.openxmlformats.org/drawingml/2006/main" w="0">
            <a:solidFill>
              <a:srgbClr val="C787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440F73-94BE-4868-B8E4-FBC9477E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1A17"/>
                </a:solidFill>
              </a:defRPr>
            </a:pPr>
            <a:r>
              <a:rPr sz="1575" b="1">
                <a:solidFill>
                  <a:srgbClr val="1C1A17"/>
                </a:solidFill>
              </a:rPr>
              <a:t>Relación entre jugadores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B332B-CF31-4C9E-A8B2-9B52F51F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911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Perfiles, chat de partido, valoraciones y ranking ELO.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D88867-A5E8-4FF4-8E2C-8E56654D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E9CA45-A996-407E-AF14-F1FD1C19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12D7B-CB71-4279-8AF5-8F1039DF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1389247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29696AB-4682-4926-8843-9AD465B7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COMUNICACIÓN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75FC41-6B92-435E-86BB-4DF62936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Comunicar deja de significar repetir el mismo mensaje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FFA1C-5865-4F0D-8976-F1180BC1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75D"/>
                </a:solidFill>
              </a:defRPr>
            </a:pPr>
            <a:r>
              <a:rPr sz="1575" b="0">
                <a:solidFill>
                  <a:srgbClr val="6E675D"/>
                </a:solidFill>
              </a:rPr>
              <a:t>Noticias para lo estable, comunicaciones segmentadas para lo puntual. El aviso correcto, a la audiencia correcta, una sola vez.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DC6FD-6000-48A8-8AFE-94CD574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D22C4-5198-4F56-9537-640F53B3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54"/>
          </a:solidFill>
          <a:ln xmlns:a="http://schemas.openxmlformats.org/drawingml/2006/main" w="0">
            <a:solidFill>
              <a:srgbClr val="157A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10FC3-150B-47AB-862C-51C00915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A54"/>
                </a:solidFill>
              </a:defRPr>
            </a:pPr>
            <a:r>
              <a:rPr sz="975" b="1">
                <a:solidFill>
                  <a:srgbClr val="157A54"/>
                </a:solidFill>
              </a:rPr>
              <a:t>IN-APP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FF668-24C0-4A72-B807-EC515DCD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813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1A17"/>
                </a:solidFill>
              </a:defRPr>
            </a:pPr>
            <a:r>
              <a:rPr sz="1350" b="0">
                <a:solidFill>
                  <a:srgbClr val="1C1A17"/>
                </a:solidFill>
              </a:rPr>
              <a:t>Visible dentro de la experiencia del jugador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C1396-F3E3-44BD-826E-2679616B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619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F9F6B-22A3-4474-B7C3-EB135763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C0"/>
          </a:solidFill>
          <a:ln xmlns:a="http://schemas.openxmlformats.org/drawingml/2006/main" w="0">
            <a:solidFill>
              <a:srgbClr val="2E63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6B3E7-2747-41AA-B87A-40C46790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3C0"/>
                </a:solidFill>
              </a:defRPr>
            </a:pPr>
            <a:r>
              <a:rPr sz="975" b="1">
                <a:solidFill>
                  <a:srgbClr val="2E63C0"/>
                </a:solidFill>
              </a:rPr>
              <a:t>EMAIL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BBC62-186D-44F7-9F6E-AE71CD08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195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1A17"/>
                </a:solidFill>
              </a:defRPr>
            </a:pPr>
            <a:r>
              <a:rPr sz="1350" b="0">
                <a:solidFill>
                  <a:srgbClr val="1C1A17"/>
                </a:solidFill>
              </a:rPr>
              <a:t>Información directa a la bandeja de entrada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804BC-8D73-42D2-966A-F4B479B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191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0CD17-DC58-41D1-B443-E55789BF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71E"/>
          </a:solidFill>
          <a:ln xmlns:a="http://schemas.openxmlformats.org/drawingml/2006/main" w="0">
            <a:solidFill>
              <a:srgbClr val="C7871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E6924-4594-47BD-9B04-8F6A37A7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71E"/>
                </a:solidFill>
              </a:defRPr>
            </a:pPr>
            <a:r>
              <a:rPr sz="975" b="1">
                <a:solidFill>
                  <a:srgbClr val="C7871E"/>
                </a:solidFill>
              </a:rPr>
              <a:t>PUSH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B096A-C251-4A53-961C-B9B99697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1A17"/>
                </a:solidFill>
              </a:defRPr>
            </a:pPr>
            <a:r>
              <a:rPr sz="1350" b="0">
                <a:solidFill>
                  <a:srgbClr val="1C1A17"/>
                </a:solidFill>
              </a:rPr>
              <a:t>Avisos breves cuando el jugador los autoriza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2C0D1-8E8C-4405-8185-884B873D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3619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C1A17"/>
          </a:solidFill>
          <a:ln xmlns:a="http://schemas.openxmlformats.org/drawingml/2006/main" w="0">
            <a:solidFill>
              <a:srgbClr val="1C1A1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FDE33-9C33-46BC-A504-26809706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52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3ED"/>
                </a:solidFill>
              </a:defRPr>
            </a:pPr>
            <a:r>
              <a:rPr sz="1875" b="1">
                <a:solidFill>
                  <a:srgbClr val="F6F3ED"/>
                </a:solidFill>
              </a:rPr>
              <a:t>Nueva comunicación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2FA22-C62E-40E8-990F-49CBDA90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671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39C8E"/>
                </a:solidFill>
              </a:defRPr>
            </a:pPr>
            <a:r>
              <a:rPr sz="900" b="1">
                <a:solidFill>
                  <a:srgbClr val="A39C8E"/>
                </a:solidFill>
              </a:rPr>
              <a:t>Audiencia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0B269-CC70-4EDF-B78C-D850A640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3ED"/>
                </a:solidFill>
              </a:defRPr>
            </a:pPr>
            <a:r>
              <a:rPr sz="1350" b="0">
                <a:solidFill>
                  <a:srgbClr val="F6F3ED"/>
                </a:solidFill>
              </a:rPr>
              <a:t>Socios activos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FB2BD-7725-49FF-870A-A589BAF2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71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39C8E"/>
                </a:solidFill>
              </a:defRPr>
            </a:pPr>
            <a:r>
              <a:rPr sz="900" b="1">
                <a:solidFill>
                  <a:srgbClr val="A39C8E"/>
                </a:solidFill>
              </a:rPr>
              <a:t>Canales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DAAB6-E22B-46AB-B714-F2F1D3F7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19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3ED"/>
                </a:solidFill>
              </a:defRPr>
            </a:pPr>
            <a:r>
              <a:rPr sz="1350" b="0">
                <a:solidFill>
                  <a:srgbClr val="F6F3ED"/>
                </a:solidFill>
              </a:rPr>
              <a:t>In-app + email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2BA66-275F-4295-BB46-05DC5162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1714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57A54"/>
          </a:solidFill>
          <a:ln xmlns:a="http://schemas.openxmlformats.org/drawingml/2006/main" w="0">
            <a:solidFill>
              <a:srgbClr val="157A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281AE-E9C3-46E4-A350-BB274D21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815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DFCFA"/>
                </a:solidFill>
              </a:defRPr>
            </a:pPr>
            <a:r>
              <a:rPr sz="1050" b="1">
                <a:solidFill>
                  <a:srgbClr val="FDFCFA"/>
                </a:solidFill>
              </a:rPr>
              <a:t>Revisar y enviar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0AACE-97E4-44D0-B891-2002FB3C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7C133-9AB3-42F0-9E92-B3C242BB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51198-A529-4929-9F89-7BEE4E86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995663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1A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8672EA6-164D-4949-8DEE-14C725E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F9C"/>
                </a:solidFill>
              </a:defRPr>
            </a:pPr>
            <a:r>
              <a:rPr sz="1050" b="1">
                <a:solidFill>
                  <a:srgbClr val="6FBF9C"/>
                </a:solidFill>
              </a:rPr>
              <a:t>ANALÍTICA FIABLE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DA8E23-B59A-4D8B-AD69-9F713B8A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3ED"/>
                </a:solidFill>
              </a:defRPr>
            </a:pPr>
            <a:r>
              <a:rPr sz="3600" b="1">
                <a:solidFill>
                  <a:srgbClr val="F6F3ED"/>
                </a:solidFill>
              </a:rPr>
              <a:t>Datos que explican la realidad del club, no una estimación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555ED-D66D-4B6C-A617-CE8B223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2C7"/>
                </a:solidFill>
              </a:defRPr>
            </a:pPr>
            <a:r>
              <a:rPr sz="1575" b="0">
                <a:solidFill>
                  <a:srgbClr val="D8D2C7"/>
                </a:solidFill>
              </a:rPr>
              <a:t>Las métricas se calculan con reservas, membresías activas, horarios y bloqueos reales en la zona horaria del club.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FCEB1-F025-43B4-8C90-0975F1D8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82420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EED6D-FAEC-4DB8-905F-16C6D970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75D"/>
                </a:solidFill>
              </a:defRPr>
            </a:pPr>
            <a:r>
              <a:rPr sz="825" b="1">
                <a:solidFill>
                  <a:srgbClr val="6E675D"/>
                </a:solidFill>
              </a:rPr>
              <a:t>OCUPACIÓN POR PISTA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9A370-FED4-479D-8202-A3556675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FBF9C"/>
                </a:solidFill>
              </a:defRPr>
            </a:pPr>
            <a:r>
              <a:rPr sz="2325" b="1">
                <a:solidFill>
                  <a:srgbClr val="6FBF9C"/>
                </a:solidFill>
              </a:rPr>
              <a:t>minutos reales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696EF-852E-4E5E-8A5B-6FC31DF0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82420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EF876-FC11-429F-98C4-49A2FE4F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75D"/>
                </a:solidFill>
              </a:defRPr>
            </a:pPr>
            <a:r>
              <a:rPr sz="825" b="1">
                <a:solidFill>
                  <a:srgbClr val="6E675D"/>
                </a:solidFill>
              </a:rPr>
              <a:t>SOCIOS ACTIVOS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EDDD7-84C7-4ABD-AFD2-AAE33C7A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099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FBF9C"/>
                </a:solidFill>
              </a:defRPr>
            </a:pPr>
            <a:r>
              <a:rPr sz="2325" b="1">
                <a:solidFill>
                  <a:srgbClr val="6FBF9C"/>
                </a:solidFill>
              </a:rPr>
              <a:t>altas reales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A868E-6F7E-4382-AAB9-530F13E7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82420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5E98C-09FD-4E1C-9D18-F3882FB8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24200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75D"/>
                </a:solidFill>
              </a:defRPr>
            </a:pPr>
            <a:r>
              <a:rPr sz="825" b="1">
                <a:solidFill>
                  <a:srgbClr val="6E675D"/>
                </a:solidFill>
              </a:rPr>
              <a:t>TENDENCIA MENSUAL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865E2-2DDC-447A-AD00-11DCA1AD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99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FBF9C"/>
                </a:solidFill>
              </a:defRPr>
            </a:pPr>
            <a:r>
              <a:rPr sz="2325" b="1">
                <a:solidFill>
                  <a:srgbClr val="6FBF9C"/>
                </a:solidFill>
              </a:rPr>
              <a:t>rango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C8C64-C684-46A5-833A-3DE05CF9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956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6F3ED"/>
                </a:solidFill>
              </a:defRPr>
            </a:pPr>
            <a:r>
              <a:rPr sz="1575" b="0">
                <a:solidFill>
                  <a:srgbClr val="F6F3ED"/>
                </a:solidFill>
              </a:rPr>
              <a:t>La capacidad descuenta cierres y bloqueos. Las altas usan la fecha real de membresía. Los meses empiezan y terminan según el horario del club.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4369C-B22B-468A-893F-B0A49E82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22A"/>
          </a:solidFill>
          <a:ln xmlns:a="http://schemas.openxmlformats.org/drawingml/2006/main" w="0">
            <a:solidFill>
              <a:srgbClr val="3732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8ABC4-3E23-4E86-9566-B40CE585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39C8E"/>
                </a:solidFill>
              </a:defRPr>
            </a:pPr>
            <a:r>
              <a:rPr sz="825" b="0">
                <a:solidFill>
                  <a:srgbClr val="A39C8E"/>
                </a:solidFill>
              </a:rPr>
              <a:t>PadelClub OS · Presentación comercial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318B8-07CB-4B94-91A1-F5087E6A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39C8E"/>
                </a:solidFill>
              </a:defRPr>
            </a:pPr>
            <a:r>
              <a:rPr sz="825" b="0">
                <a:solidFill>
                  <a:srgbClr val="A39C8E"/>
                </a:solidFill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2786111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9A390E9-780D-4130-9AC3-9F03EDCB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CAMBIO ACOMPAÑADO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82D18C-0C51-4048-A8A9-4BB0C9A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Cambiar de sistema no significa empezar de cero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BDF16-26E0-4B2C-827C-4DD76467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286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5AAB7-35EA-4735-AD24-D1F5B331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0">
            <a:solidFill>
              <a:srgbClr val="EFE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9A7E7-464B-4B28-9F62-93BE13EA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5C3F"/>
                </a:solidFill>
              </a:defRPr>
            </a:pPr>
            <a:r>
              <a:rPr sz="1200" b="1">
                <a:solidFill>
                  <a:srgbClr val="0E5C3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37F26-A5F4-4970-89ED-4467555F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A17"/>
                </a:solidFill>
              </a:defRPr>
            </a:pPr>
            <a:r>
              <a:rPr sz="1800" b="1">
                <a:solidFill>
                  <a:srgbClr val="1C1A17"/>
                </a:solidFill>
              </a:rPr>
              <a:t>Preparación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3C569-DA0C-4DC1-A133-DE749AA6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75D"/>
                </a:solidFill>
              </a:defRPr>
            </a:pPr>
            <a:r>
              <a:rPr sz="1200" b="0">
                <a:solidFill>
                  <a:srgbClr val="6E675D"/>
                </a:solidFill>
              </a:rPr>
              <a:t>Horarios, pistas, tarifas y responsables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D9C27-6267-476D-9F69-EEBE5F6C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286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B8C9B-2900-43D9-8B2C-0B326FF8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0">
            <a:solidFill>
              <a:srgbClr val="EFE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C5506-A29C-4486-8F77-6CC90E07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48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5C3F"/>
                </a:solidFill>
              </a:defRPr>
            </a:pPr>
            <a:r>
              <a:rPr sz="1200" b="1">
                <a:solidFill>
                  <a:srgbClr val="0E5C3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F4508-5334-4A0F-ADC3-5600DE1D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0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A17"/>
                </a:solidFill>
              </a:defRPr>
            </a:pPr>
            <a:r>
              <a:rPr sz="1800" b="1">
                <a:solidFill>
                  <a:srgbClr val="1C1A17"/>
                </a:solidFill>
              </a:rPr>
              <a:t>Importación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3BE5F-83C3-4F6D-A09B-DA97A106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76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75D"/>
                </a:solidFill>
              </a:defRPr>
            </a:pPr>
            <a:r>
              <a:rPr sz="1200" b="0">
                <a:solidFill>
                  <a:srgbClr val="6E675D"/>
                </a:solidFill>
              </a:rPr>
              <a:t>Pistas, socios y reservas con validación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348E6-D0FB-4F3E-A820-4C99C98B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286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BECBB-8E97-40A3-BF38-2DACB21B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0">
            <a:solidFill>
              <a:srgbClr val="EFE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75A52-A9E6-4CA6-913B-C9AD14A1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5C3F"/>
                </a:solidFill>
              </a:defRPr>
            </a:pPr>
            <a:r>
              <a:rPr sz="1200" b="1">
                <a:solidFill>
                  <a:srgbClr val="0E5C3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8E671-4C02-4BAB-8EAD-BB3BDD71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A17"/>
                </a:solidFill>
              </a:defRPr>
            </a:pPr>
            <a:r>
              <a:rPr sz="1800" b="1">
                <a:solidFill>
                  <a:srgbClr val="1C1A17"/>
                </a:solidFill>
              </a:rPr>
              <a:t>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99071-267C-4E4B-8398-6FA40778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6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75D"/>
                </a:solidFill>
              </a:defRPr>
            </a:pPr>
            <a:r>
              <a:rPr sz="1200" b="0">
                <a:solidFill>
                  <a:srgbClr val="6E675D"/>
                </a:solidFill>
              </a:rPr>
              <a:t>Reserva admin, reserva jugador y cobro presencial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0BE92-2DF2-456E-BE33-0828912A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286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C1A17"/>
          </a:solidFill>
          <a:ln xmlns:a="http://schemas.openxmlformats.org/drawingml/2006/main" w="9525">
            <a:solidFill>
              <a:srgbClr val="1C1A1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232BB-3662-47FC-A648-ACBB827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54"/>
          </a:solidFill>
          <a:ln xmlns:a="http://schemas.openxmlformats.org/drawingml/2006/main" w="0">
            <a:solidFill>
              <a:srgbClr val="157A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FFF33-8E14-4D95-977F-7476831F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DFCFA"/>
                </a:solidFill>
              </a:defRPr>
            </a:pPr>
            <a:r>
              <a:rPr sz="1200" b="1">
                <a:solidFill>
                  <a:srgbClr val="FDFCFA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E7320-B350-4BAD-8173-C2A6EAEA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3ED"/>
                </a:solidFill>
              </a:defRPr>
            </a:pPr>
            <a:r>
              <a:rPr sz="1800" b="1">
                <a:solidFill>
                  <a:srgbClr val="F6F3ED"/>
                </a:solidFill>
              </a:rPr>
              <a:t>Salida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15F2E-987D-4BCE-B96B-35F9A0D8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76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2C7"/>
                </a:solidFill>
              </a:defRPr>
            </a:pPr>
            <a:r>
              <a:rPr sz="1200" b="0">
                <a:solidFill>
                  <a:srgbClr val="D8D2C7"/>
                </a:solidFill>
              </a:rPr>
              <a:t>Publicación, formación y revisión de la primera semana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EDB20-D9D1-4C88-BF05-EB50F002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721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5C3F"/>
                </a:solidFill>
              </a:defRPr>
            </a:pPr>
            <a:r>
              <a:rPr sz="1425" b="1">
                <a:solidFill>
                  <a:srgbClr val="0E5C3F"/>
                </a:solidFill>
              </a:rPr>
              <a:t>El criterio de salida es verificable: datos, roles y flujos críticos revisados con el club.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9AC1D-0650-44A2-A7E4-D1741E3E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AB8DE-9861-406A-9CF7-6C22DAEC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0580D6-0A80-44CA-AC2C-4BE87BCE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4760436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0ED2BC7-1D8F-4BA9-B1D0-EA5A75FA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BASE DE PRODUCTO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E0B1EE-AAD4-4D7C-A226-3B226D4D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Diseñado para trabajar como un club real durante todo el día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C8673-270E-4E07-8AAC-FF0C8D92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54"/>
                </a:solidFill>
              </a:defRPr>
            </a:pPr>
            <a:r>
              <a:rPr sz="1125" b="1">
                <a:solidFill>
                  <a:srgbClr val="157A54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40739-194E-4E2A-988F-2E457B44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0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A17"/>
                </a:solidFill>
              </a:defRPr>
            </a:pPr>
            <a:r>
              <a:rPr sz="1800" b="1">
                <a:solidFill>
                  <a:srgbClr val="1C1A17"/>
                </a:solidFill>
              </a:rPr>
              <a:t>Multi-club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E7F1A-E0FE-4397-B28E-7858EB28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Membresías y contexto activo por club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4C5E4-4841-4679-98C6-F5F4A2B9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02BF2-65F4-4349-AB7F-141CB748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54"/>
                </a:solidFill>
              </a:defRPr>
            </a:pPr>
            <a:r>
              <a:rPr sz="1125" b="1">
                <a:solidFill>
                  <a:srgbClr val="157A5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1253B-B4C6-42F5-B2CB-8E5011ED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90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A17"/>
                </a:solidFill>
              </a:defRPr>
            </a:pPr>
            <a:r>
              <a:rPr sz="1800" b="1">
                <a:solidFill>
                  <a:srgbClr val="1C1A17"/>
                </a:solidFill>
              </a:rPr>
              <a:t>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5A8BD-C3C0-4BA7-B7C3-9C63679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Administrador, recepción y jugador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C878A-93A1-4EED-9E2D-36B163A1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739F5-231A-4A64-9955-74C0326C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54"/>
                </a:solidFill>
              </a:defRPr>
            </a:pPr>
            <a:r>
              <a:rPr sz="1125" b="1">
                <a:solidFill>
                  <a:srgbClr val="157A54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DF950-9FF7-4A03-8ABF-5AA3F780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A17"/>
                </a:solidFill>
              </a:defRPr>
            </a:pPr>
            <a:r>
              <a:rPr sz="1800" b="1">
                <a:solidFill>
                  <a:srgbClr val="1C1A17"/>
                </a:solidFill>
              </a:rPr>
              <a:t>Trazabilidad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30032-0FC2-409C-B835-07EE62AC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Actividad y operaciones sensibles registradas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AE0DE-88D2-4D7C-B3AD-E31DF759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324E7-D2B4-4818-A186-ACD8AD47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54"/>
                </a:solidFill>
              </a:defRPr>
            </a:pPr>
            <a:r>
              <a:rPr sz="1125" b="1">
                <a:solidFill>
                  <a:srgbClr val="157A54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7B2D3-517D-4BDC-BFBD-CD4DD9FC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A17"/>
                </a:solidFill>
              </a:defRPr>
            </a:pPr>
            <a:r>
              <a:rPr sz="1800" b="1">
                <a:solidFill>
                  <a:srgbClr val="1C1A17"/>
                </a:solidFill>
              </a:rPr>
              <a:t>Acceso móvil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3C7E3-51FD-405D-BB17-50FDF68B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Portal instalable (PWA), sin tiendas de aplicaciones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4C687-0671-41C9-BAED-251DD30B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4F86F-BB50-46FC-9A85-2350BC95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54"/>
                </a:solidFill>
              </a:defRPr>
            </a:pPr>
            <a:r>
              <a:rPr sz="1125" b="1">
                <a:solidFill>
                  <a:srgbClr val="157A54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13FB0-AB01-49C6-BF18-4E47BEA8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05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A17"/>
                </a:solidFill>
              </a:defRPr>
            </a:pPr>
            <a:r>
              <a:rPr sz="1800" b="1">
                <a:solidFill>
                  <a:srgbClr val="1C1A17"/>
                </a:solidFill>
              </a:rPr>
              <a:t>Comunicaciones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6C2EB-7562-4413-92A7-1FBDED0B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672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In-app, email y push configurables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E9A1E-DA80-4498-9606-C38CAFB0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BBB0D-A43B-42D3-9D2D-4128BD64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43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54"/>
                </a:solidFill>
              </a:defRPr>
            </a:pPr>
            <a:r>
              <a:rPr sz="1125" b="1">
                <a:solidFill>
                  <a:srgbClr val="157A54"/>
                </a:solidFill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EB4B9-4103-4B64-BF71-7C759BC2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1A17"/>
                </a:solidFill>
              </a:defRPr>
            </a:pPr>
            <a:r>
              <a:rPr sz="1800" b="1">
                <a:solidFill>
                  <a:srgbClr val="1C1A17"/>
                </a:solidFill>
              </a:rPr>
              <a:t>Privacidad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79E82-F98C-4573-AF2B-3A1D33BB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75D"/>
                </a:solidFill>
              </a:defRPr>
            </a:pPr>
            <a:r>
              <a:rPr sz="1275" b="0">
                <a:solidFill>
                  <a:srgbClr val="6E675D"/>
                </a:solidFill>
              </a:rPr>
              <a:t>Exportación y eliminación de datos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489BD-61CD-4D08-BF51-7C50D6AE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95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84B7D2-ABCC-4CFD-A391-48146DB8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010815-FCAF-45D1-8DDA-E2CCBFD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0E3042-873A-4A0E-8265-A3FD159E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592435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111BBBC-11C2-4857-A242-E6BA9335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PRIMER PASO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0AA82B-0C13-4903-B8B8-91E3E696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Un piloto acompañado reduce el riesgo antes de cambiar la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7CBA9-A239-41E6-B9AF-F107119B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8008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DFCFA"/>
          </a:solidFill>
          <a:ln xmlns:a="http://schemas.openxmlformats.org/drawingml/2006/main" w="9525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21910-EFD0-414D-9D07-4D986FF6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EBE96-6D69-4F00-842F-A91C9BA8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Semana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5A479-04FB-4D4F-886B-D1929CFE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1A17"/>
                </a:solidFill>
              </a:defRPr>
            </a:pPr>
            <a:r>
              <a:rPr sz="1350" b="0">
                <a:solidFill>
                  <a:srgbClr val="1C1A17"/>
                </a:solidFill>
              </a:rPr>
              <a:t>Configuración e importación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966F1-1880-4583-A816-EA60C0EE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5753A-2624-4506-B8DC-7955C53E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Día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50767-0AF2-4062-A51A-A5E20214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1A17"/>
                </a:solidFill>
              </a:defRPr>
            </a:pPr>
            <a:r>
              <a:rPr sz="1350" b="0">
                <a:solidFill>
                  <a:srgbClr val="1C1A17"/>
                </a:solidFill>
              </a:rPr>
              <a:t>Formación de administrador y recepción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CB1E4-9416-4590-B953-7074F9E4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F7455-A247-4643-9C8A-0401E1AF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24 horas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4AC44-3887-47CF-A05C-1410A78D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814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1A17"/>
                </a:solidFill>
              </a:defRPr>
            </a:pPr>
            <a:r>
              <a:rPr sz="1350" b="0">
                <a:solidFill>
                  <a:srgbClr val="1C1A17"/>
                </a:solidFill>
              </a:rPr>
              <a:t>Primera revisión operativa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474C1-E604-4AD1-A965-263CFE4F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A97F8-84EB-4942-807C-8EE17E4C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7 días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5297C-65B5-48FC-9091-E5A54029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1A17"/>
                </a:solidFill>
              </a:defRPr>
            </a:pPr>
            <a:r>
              <a:rPr sz="1350" b="0">
                <a:solidFill>
                  <a:srgbClr val="1C1A17"/>
                </a:solidFill>
              </a:rPr>
              <a:t>Ajustes y decisión de continuidad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F4000-7BFE-47D8-AF98-40C51E38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C1A17"/>
          </a:solidFill>
          <a:ln xmlns:a="http://schemas.openxmlformats.org/drawingml/2006/main" w="0">
            <a:solidFill>
              <a:srgbClr val="1C1A1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48EDA-31BA-46E1-AC51-28D3DB22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3ED"/>
                </a:solidFill>
              </a:defRPr>
            </a:pPr>
            <a:r>
              <a:rPr sz="1800" b="1">
                <a:solidFill>
                  <a:srgbClr val="F6F3ED"/>
                </a:solidFill>
              </a:rPr>
              <a:t>El club valida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D8CDF-5818-4FBE-AA25-47B52BB9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D2C7"/>
                </a:solidFill>
              </a:defRPr>
            </a:pPr>
            <a:r>
              <a:rPr sz="1425" b="0">
                <a:solidFill>
                  <a:srgbClr val="D8D2C7"/>
                </a:solidFill>
              </a:rPr>
              <a:t>• Horarios y tarifas</a:t>
            </a:r>
          </a:p>
          <a:p xmlns:a="http://schemas.openxmlformats.org/drawingml/2006/main">
            <a:pPr algn="l">
              <a:defRPr sz="1425" b="0">
                <a:solidFill>
                  <a:srgbClr val="D8D2C7"/>
                </a:solidFill>
              </a:defRPr>
            </a:pPr>
            <a:r>
              <a:rPr sz="1425" b="0">
                <a:solidFill>
                  <a:srgbClr val="D8D2C7"/>
                </a:solidFill>
              </a:rPr>
              <a:t>• Flujo de reservas</a:t>
            </a:r>
          </a:p>
          <a:p xmlns:a="http://schemas.openxmlformats.org/drawingml/2006/main">
            <a:pPr algn="l">
              <a:defRPr sz="1425" b="0">
                <a:solidFill>
                  <a:srgbClr val="D8D2C7"/>
                </a:solidFill>
              </a:defRPr>
            </a:pPr>
            <a:r>
              <a:rPr sz="1425" b="0">
                <a:solidFill>
                  <a:srgbClr val="D8D2C7"/>
                </a:solidFill>
              </a:rPr>
              <a:t>• Cobro presencial</a:t>
            </a:r>
          </a:p>
          <a:p xmlns:a="http://schemas.openxmlformats.org/drawingml/2006/main">
            <a:pPr algn="l">
              <a:defRPr sz="1425" b="0">
                <a:solidFill>
                  <a:srgbClr val="D8D2C7"/>
                </a:solidFill>
              </a:defRPr>
            </a:pPr>
            <a:r>
              <a:rPr sz="1425" b="0">
                <a:solidFill>
                  <a:srgbClr val="D8D2C7"/>
                </a:solidFill>
              </a:rPr>
              <a:t>• Accesos del equipo</a:t>
            </a:r>
          </a:p>
          <a:p xmlns:a="http://schemas.openxmlformats.org/drawingml/2006/main">
            <a:pPr algn="l">
              <a:defRPr sz="1425" b="0">
                <a:solidFill>
                  <a:srgbClr val="D8D2C7"/>
                </a:solidFill>
              </a:defRPr>
            </a:pPr>
            <a:r>
              <a:rPr sz="1425" b="0">
                <a:solidFill>
                  <a:srgbClr val="D8D2C7"/>
                </a:solidFill>
              </a:rPr>
              <a:t>• Experiencia del jugador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1281C-D944-442B-97FF-1BBE9FAA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33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F9C"/>
                </a:solidFill>
              </a:defRPr>
            </a:pPr>
            <a:r>
              <a:rPr sz="1125" b="1">
                <a:solidFill>
                  <a:srgbClr val="6FBF9C"/>
                </a:solidFill>
              </a:rPr>
              <a:t>Sin pagos reales durante el piloto.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57430-D956-47F9-A094-D296CE95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7AE53-7AA7-4C98-B764-54792A05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B2D12-A863-4828-A9A2-DD8EC248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9549079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FE686A7-DD71-4A01-8CC9-8EED24E4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54"/>
                </a:solidFill>
              </a:defRPr>
            </a:pPr>
            <a:r>
              <a:rPr sz="1050" b="1">
                <a:solidFill>
                  <a:srgbClr val="157A54"/>
                </a:solidFill>
              </a:rPr>
              <a:t>ALCANCE TRANSPARENTE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B5E1D1-EC51-4EBD-92A4-E2F74378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A17"/>
                </a:solidFill>
              </a:defRPr>
            </a:pPr>
            <a:r>
              <a:rPr sz="3600" b="1">
                <a:solidFill>
                  <a:srgbClr val="1C1A17"/>
                </a:solidFill>
              </a:rPr>
              <a:t>El producto de hoy se vende por lo que ya resuelve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CB1F2-0960-456E-8226-AB988186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095875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9F4E6"/>
          </a:solidFill>
          <a:ln xmlns:a="http://schemas.openxmlformats.org/drawingml/2006/main" w="9525">
            <a:solidFill>
              <a:srgbClr val="C8E4C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89D09-332C-4EF0-A4E9-B2B1D3FF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C3F"/>
                </a:solidFill>
              </a:defRPr>
            </a:pPr>
            <a:r>
              <a:rPr sz="975" b="1">
                <a:solidFill>
                  <a:srgbClr val="0E5C3F"/>
                </a:solidFill>
              </a:rPr>
              <a:t>INCLUIDO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90009-8B3E-4883-9AB6-ADAAA835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Reservas y bloqueos</a:t>
            </a:r>
          </a:p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Socios y equipo</a:t>
            </a:r>
          </a:p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Cobro presencial por jugador</a:t>
            </a:r>
          </a:p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Competiciones y partidas</a:t>
            </a:r>
          </a:p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Comunicación y noticias</a:t>
            </a:r>
          </a:p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Analítica y exportaciones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32B01-695F-44BE-9A4F-05D8F3E1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9E8E4"/>
          </a:solidFill>
          <a:ln xmlns:a="http://schemas.openxmlformats.org/drawingml/2006/main" w="9525">
            <a:solidFill>
              <a:srgbClr val="EFC9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C6EE4-0872-4B6B-86C4-D109EED8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0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402E"/>
                </a:solidFill>
              </a:defRPr>
            </a:pPr>
            <a:r>
              <a:rPr sz="975" b="1">
                <a:solidFill>
                  <a:srgbClr val="B3402E"/>
                </a:solidFill>
              </a:rPr>
              <a:t>NO INCLUIDO EN EL ALCANCE ACTUAL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3F2C1-1CE4-4F29-A2F2-ADA030B5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TPV fiscal o hardware</a:t>
            </a:r>
          </a:p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Cobro online de reservas nuevas</a:t>
            </a:r>
          </a:p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Contabilidad del club</a:t>
            </a:r>
          </a:p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Funciones futuras no contratadas</a:t>
            </a:r>
          </a:p>
          <a:p xmlns:a="http://schemas.openxmlformats.org/drawingml/2006/main">
            <a:pPr algn="l">
              <a:defRPr sz="1575" b="0">
                <a:solidFill>
                  <a:srgbClr val="1C1A17"/>
                </a:solidFill>
              </a:defRPr>
            </a:pPr>
            <a:r>
              <a:rPr sz="1575" b="0">
                <a:solidFill>
                  <a:srgbClr val="1C1A17"/>
                </a:solidFill>
              </a:rPr>
              <a:t>Desarrollos a medida sin propuesta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82FF6-98E9-4FDB-9668-73965574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402E"/>
                </a:solidFill>
              </a:defRPr>
            </a:pPr>
            <a:r>
              <a:rPr sz="1350" b="1">
                <a:solidFill>
                  <a:srgbClr val="B3402E"/>
                </a:solidFill>
              </a:rPr>
              <a:t>Claridad comercial desde el principio.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E8641-D420-44E3-BC3D-2C497DC1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CC"/>
          </a:solidFill>
          <a:ln xmlns:a="http://schemas.openxmlformats.org/drawingml/2006/main" w="0">
            <a:solidFill>
              <a:srgbClr val="DDD7C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1D778-8D4C-4C1B-BD59-1E542F63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PadelClub OS · Presentación comercial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1870D-51E6-48C9-B8D1-DD9A638D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675D"/>
                </a:solidFill>
              </a:defRPr>
            </a:pPr>
            <a:r>
              <a:rPr sz="825" b="0">
                <a:solidFill>
                  <a:srgbClr val="6E675D"/>
                </a:solidFill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5023411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C1A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4dcc33902420c"/>
          <a:stretch xmlns:a="http://schemas.openxmlformats.org/drawingml/2006/main"/>
        </p:blipFill>
        <p:spPr>
          <a:xfrm xmlns:a="http://schemas.openxmlformats.org/drawingml/2006/main">
            <a:off x="685800" y="500577"/>
            <a:ext cx="3143250" cy="865746"/>
          </a:xfrm>
          <a:prstGeom xmlns:a="http://schemas.openxmlformats.org/drawingml/2006/main" prst="rect">
            <a:avLst/>
          </a:prstGeom>
        </p:spPr>
      </p:pic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042D396-87E0-4D41-8F0F-1946FD0F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6F3ED"/>
                </a:solidFill>
              </a:defRPr>
            </a:pPr>
            <a:r>
              <a:rPr sz="4650" b="1">
                <a:solidFill>
                  <a:srgbClr val="F6F3ED"/>
                </a:solidFill>
              </a:rPr>
              <a:t>Veamos tu club funcionando</a:t>
            </a:r>
          </a:p>
          <a:p xmlns:a="http://schemas.openxmlformats.org/drawingml/2006/main">
            <a:pPr algn="l">
              <a:defRPr sz="4650" b="1">
                <a:solidFill>
                  <a:srgbClr val="F6F3ED"/>
                </a:solidFill>
              </a:defRPr>
            </a:pPr>
            <a:r>
              <a:rPr sz="4650" b="1">
                <a:solidFill>
                  <a:srgbClr val="F6F3ED"/>
                </a:solidFill>
              </a:rPr>
              <a:t>con tus horarios y tus pistas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15D26-4EBF-40AE-9668-E01296E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D2C7"/>
                </a:solidFill>
              </a:defRPr>
            </a:pPr>
            <a:r>
              <a:rPr sz="1725" b="0">
                <a:solidFill>
                  <a:srgbClr val="D8D2C7"/>
                </a:solidFill>
              </a:rPr>
              <a:t>Una demo útil empieza con tu operativa real, no con una lista genérica de funciones.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F6FBA-8881-40CD-8041-F0783F05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857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7A54"/>
          </a:solidFill>
          <a:ln xmlns:a="http://schemas.openxmlformats.org/drawingml/2006/main" w="0">
            <a:solidFill>
              <a:srgbClr val="157A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A5BED-D719-406F-9158-F9F0C638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DFCFA"/>
                </a:solidFill>
              </a:defRPr>
            </a:pPr>
            <a:r>
              <a:rPr sz="1350" b="1">
                <a:solidFill>
                  <a:srgbClr val="FDFCFA"/>
                </a:solidFill>
              </a:rPr>
              <a:t>Solicitar una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24226-7E8D-48CD-89FB-C9B34E00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BF9C"/>
                </a:solidFill>
              </a:defRPr>
            </a:pPr>
            <a:r>
              <a:rPr sz="1275" b="1">
                <a:solidFill>
                  <a:srgbClr val="6FBF9C"/>
                </a:solidFill>
              </a:rPr>
              <a:t>padelclubos.com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CA214-622D-43A3-8FB0-67C29E21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47850"/>
            <a:ext cx="2476500" cy="34480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282420"/>
          </a:solidFill>
          <a:ln xmlns:a="http://schemas.openxmlformats.org/drawingml/2006/main" w="9525">
            <a:solidFill>
              <a:srgbClr val="37322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A50D3-DC62-4B83-A281-BB972011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BF9C"/>
                </a:solidFill>
              </a:defRPr>
            </a:pPr>
            <a:r>
              <a:rPr sz="900" b="1">
                <a:solidFill>
                  <a:srgbClr val="6FBF9C"/>
                </a:solidFill>
              </a:rPr>
              <a:t>PREPARA LA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427FA-62E3-4C2D-9762-0D41C5BC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1790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3ED"/>
                </a:solidFill>
              </a:defRPr>
            </a:pPr>
            <a:r>
              <a:rPr sz="1425" b="0">
                <a:solidFill>
                  <a:srgbClr val="F6F3ED"/>
                </a:solidFill>
              </a:rPr>
              <a:t>1. Número de pistas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6F3ED"/>
                </a:solidFill>
              </a:defRPr>
            </a:pPr>
            <a:r>
              <a:rPr sz="1425" b="0">
                <a:solidFill>
                  <a:srgbClr val="F6F3ED"/>
                </a:solidFill>
              </a:rPr>
              <a:t>2. Horarios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6F3ED"/>
                </a:solidFill>
              </a:defRPr>
            </a:pPr>
            <a:r>
              <a:rPr sz="1425" b="0">
                <a:solidFill>
                  <a:srgbClr val="F6F3ED"/>
                </a:solidFill>
              </a:rPr>
              <a:t>3. Cómo reservas hoy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6F3ED"/>
                </a:solidFill>
              </a:defRPr>
            </a:pPr>
            <a:r>
              <a:rPr sz="1425" b="0">
                <a:solidFill>
                  <a:srgbClr val="F6F3ED"/>
                </a:solidFill>
              </a:rPr>
              <a:t>4. Cómo cobras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6F3ED"/>
                </a:solidFill>
              </a:defRPr>
            </a:pPr>
            <a:r>
              <a:rPr sz="1425" b="0">
                <a:solidFill>
                  <a:srgbClr val="F6F3ED"/>
                </a:solidFill>
              </a:rPr>
              <a:t>5. Qué quieres mejorar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865B9-0E4A-478E-B93F-363E1A99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39C8E"/>
                </a:solidFill>
              </a:defRPr>
            </a:pPr>
            <a:r>
              <a:rPr sz="825" b="0">
                <a:solidFill>
                  <a:srgbClr val="A39C8E"/>
                </a:solidFill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568968457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EL CAMBIO</a:t>
            </a:r>
          </a:p>
        </p:txBody>
      </p:sp>
      <p:sp>
        <p:nvSpPr>
          <p:cNvPr id="3" name="slide-title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El mismo club, con y sin sistema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023360"/>
                <a:gridCol w="4937760"/>
              </a:tblGrid>
              <a:tr h="574765">
                <a:tc>
                  <a:txBody>
                    <a:bodyPr/>
                    <a:lstStyle/>
                    <a:p>
                      <a:r>
                        <a:rPr sz="1300" b="1"/>
                        <a:t>Área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Hoy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Con PadelClub OS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1"/>
                        <a:t>Reservas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Teléfono, WhatsApp y papel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Agenda única por pista + reserva online del jugador 24/7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1"/>
                        <a:t>Cambios y cancelaciones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Avisos sueltos y conflictos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Estado actualizado al momento para equipo y jugador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1"/>
                        <a:t>Cobro de reservas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«Creo que pagó»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Estado por jugador: cobrado, pendiente y quién lo registró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1"/>
                        <a:t>Competiciones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Cuadros en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Liga, eliminatoria y grupos con clasificación automática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1"/>
                        <a:t>Comunicación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Grupo de WhatsApp saturado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Noticias y avisos segmentados: in-app, email y push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300" b="1"/>
                        <a:t>Decisiones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Intuición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Ocupación e ingresos registrados reales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978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Sin cambiar cómo cobra el club: el pago sigue realizándose en el club.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PadelClub OS · Presentación comercial</a:t>
            </a:r>
          </a:p>
        </p:txBody>
      </p:sp>
      <p:sp>
        <p:nvSpPr>
          <p:cNvPr id="7" name="page-number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3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2026-08-21T07:25:10.8910000Z</dcterms:created>
  <dcterms:modified xsi:type="dcterms:W3CDTF">2026-08-21T07:25:10.8920000Z</dcterms:modified>
</coreProperties>
</file>